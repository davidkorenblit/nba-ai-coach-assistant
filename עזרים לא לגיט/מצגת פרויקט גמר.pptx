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2" y="1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D3E4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rgbClr val="3D3E4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6948" y="408793"/>
            <a:ext cx="10256103" cy="15870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0" i="0">
                <a:solidFill>
                  <a:srgbClr val="73757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92013" y="2231754"/>
            <a:ext cx="5403215" cy="1290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rgbClr val="3D3E43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193" y="1854200"/>
            <a:ext cx="4359275" cy="16065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-635">
              <a:lnSpc>
                <a:spcPts val="4200"/>
              </a:lnSpc>
              <a:spcBef>
                <a:spcPts val="50"/>
              </a:spcBef>
            </a:pPr>
            <a:r>
              <a:rPr sz="3350" spc="-100" dirty="0"/>
              <a:t>AI</a:t>
            </a:r>
            <a:r>
              <a:rPr sz="3350" spc="-210" dirty="0"/>
              <a:t> </a:t>
            </a:r>
            <a:r>
              <a:rPr sz="3350" dirty="0"/>
              <a:t>Assistant</a:t>
            </a:r>
            <a:r>
              <a:rPr sz="3350" spc="-200" dirty="0"/>
              <a:t> </a:t>
            </a:r>
            <a:r>
              <a:rPr sz="3350" spc="65" dirty="0"/>
              <a:t>Coach</a:t>
            </a:r>
            <a:r>
              <a:rPr sz="3350" spc="-200" dirty="0"/>
              <a:t> </a:t>
            </a:r>
            <a:r>
              <a:rPr sz="3350" spc="-500" dirty="0"/>
              <a:t>– </a:t>
            </a:r>
            <a:r>
              <a:rPr sz="3350" spc="110" dirty="0"/>
              <a:t>Optimal</a:t>
            </a:r>
            <a:r>
              <a:rPr sz="3350" spc="-250" dirty="0"/>
              <a:t> </a:t>
            </a:r>
            <a:r>
              <a:rPr sz="3350" spc="65" dirty="0"/>
              <a:t>Timeout </a:t>
            </a:r>
            <a:r>
              <a:rPr sz="3350" spc="95" dirty="0"/>
              <a:t>Prediction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4873625" y="3688715"/>
            <a:ext cx="5632450" cy="94743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algn="r">
              <a:lnSpc>
                <a:spcPct val="131900"/>
              </a:lnSpc>
              <a:spcBef>
                <a:spcPts val="60"/>
              </a:spcBef>
            </a:pPr>
            <a:r>
              <a:rPr lang="he-IL" sz="1600" dirty="0"/>
              <a:t>פרויקט מחקר המשלב למידת מכונה </a:t>
            </a:r>
            <a:r>
              <a:rPr lang="he-IL" sz="1600" dirty="0" err="1"/>
              <a:t>ואנליטיקה</a:t>
            </a:r>
            <a:r>
              <a:rPr lang="he-IL" sz="1600" dirty="0"/>
              <a:t> של ספורט כדי לעזור למאמנים להחליט מתי לקרוא לפסק זמן ברגע האופטימלי. כלי מבוסס נתונים שמספק יתרון תחרותי.</a:t>
            </a:r>
            <a:endParaRPr sz="1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375" y="3130550"/>
            <a:ext cx="92551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he-IL" sz="2800" dirty="0"/>
              <a:t>הבעיה: קבלת החלטות בזמן אמת בתנאי אי-ודאות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375" y="3992562"/>
            <a:ext cx="4782820" cy="75597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ההשפעה</a:t>
            </a:r>
            <a:br>
              <a:rPr lang="he-IL" sz="1600" dirty="0"/>
            </a:br>
            <a:r>
              <a:rPr lang="he-IL" sz="1600" dirty="0"/>
              <a:t>פסק זמן שגוי או מיותר עלול לשנות את מהלך המשחק. ריצת 6–0 ללא פסק זמן עלולה להפוך את תוצאת המשחק.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20930" y="3992562"/>
            <a:ext cx="4711700" cy="100219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המצב הנוכחי</a:t>
            </a:r>
            <a:br>
              <a:rPr lang="he-IL" sz="1600" dirty="0"/>
            </a:br>
            <a:r>
              <a:rPr lang="he-IL" sz="1600" dirty="0"/>
              <a:t>מאמנים בליגה מקבלים החלטות קריטיות על פסקי זמן בהתבסס על אינטואיציה וניסיון בלבד – ללא תמיכה מניתוח נתוני משחק.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29817" y="-247832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59571" y="3081694"/>
            <a:ext cx="661860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he-IL" sz="2800" dirty="0"/>
              <a:t>מטרות משותפות ושאלות מחקר</a:t>
            </a:r>
            <a:endParaRPr sz="27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0382" y="3785224"/>
            <a:ext cx="2681605" cy="100219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תוצאה מעשית</a:t>
            </a:r>
            <a:br>
              <a:rPr lang="he-IL" sz="1600" dirty="0"/>
            </a:br>
            <a:r>
              <a:rPr lang="he-IL" sz="1600" dirty="0"/>
              <a:t>כלי שמשלב מודלים סטטיסטיים ותיאוריה ספורטיבית כדי לספק יתרון תחרותי.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69785" y="3724274"/>
            <a:ext cx="381000" cy="390525"/>
            <a:chOff x="4086225" y="3733800"/>
            <a:chExt cx="381000" cy="390525"/>
          </a:xfrm>
        </p:grpSpPr>
        <p:sp>
          <p:nvSpPr>
            <p:cNvPr id="10" name="object 10"/>
            <p:cNvSpPr/>
            <p:nvPr/>
          </p:nvSpPr>
          <p:spPr>
            <a:xfrm>
              <a:off x="4090987" y="373856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247649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7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257174"/>
                  </a:lnTo>
                  <a:lnTo>
                    <a:pt x="9423" y="304558"/>
                  </a:lnTo>
                  <a:lnTo>
                    <a:pt x="36271" y="344728"/>
                  </a:lnTo>
                  <a:lnTo>
                    <a:pt x="76441" y="371576"/>
                  </a:lnTo>
                  <a:lnTo>
                    <a:pt x="123824" y="380999"/>
                  </a:lnTo>
                  <a:lnTo>
                    <a:pt x="247649" y="380999"/>
                  </a:lnTo>
                  <a:lnTo>
                    <a:pt x="295033" y="371576"/>
                  </a:lnTo>
                  <a:lnTo>
                    <a:pt x="335203" y="344728"/>
                  </a:lnTo>
                  <a:lnTo>
                    <a:pt x="362051" y="304558"/>
                  </a:lnTo>
                  <a:lnTo>
                    <a:pt x="371474" y="257174"/>
                  </a:lnTo>
                  <a:lnTo>
                    <a:pt x="371474" y="123824"/>
                  </a:lnTo>
                  <a:lnTo>
                    <a:pt x="362051" y="76441"/>
                  </a:lnTo>
                  <a:lnTo>
                    <a:pt x="335203" y="36271"/>
                  </a:lnTo>
                  <a:lnTo>
                    <a:pt x="295033" y="9423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5749" y="3743325"/>
              <a:ext cx="361949" cy="3714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90987" y="373856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0" y="2571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87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16357" y="61785"/>
                  </a:lnTo>
                  <a:lnTo>
                    <a:pt x="20866" y="55029"/>
                  </a:lnTo>
                  <a:lnTo>
                    <a:pt x="25387" y="48272"/>
                  </a:lnTo>
                  <a:lnTo>
                    <a:pt x="30518" y="42011"/>
                  </a:lnTo>
                  <a:lnTo>
                    <a:pt x="36271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47650" y="0"/>
                  </a:lnTo>
                  <a:lnTo>
                    <a:pt x="255778" y="0"/>
                  </a:lnTo>
                  <a:lnTo>
                    <a:pt x="263829" y="800"/>
                  </a:lnTo>
                  <a:lnTo>
                    <a:pt x="271805" y="2374"/>
                  </a:lnTo>
                  <a:lnTo>
                    <a:pt x="279781" y="3962"/>
                  </a:lnTo>
                  <a:lnTo>
                    <a:pt x="287528" y="6311"/>
                  </a:lnTo>
                  <a:lnTo>
                    <a:pt x="295033" y="9423"/>
                  </a:lnTo>
                  <a:lnTo>
                    <a:pt x="302552" y="12534"/>
                  </a:lnTo>
                  <a:lnTo>
                    <a:pt x="335203" y="36271"/>
                  </a:lnTo>
                  <a:lnTo>
                    <a:pt x="340956" y="42011"/>
                  </a:lnTo>
                  <a:lnTo>
                    <a:pt x="346087" y="48272"/>
                  </a:lnTo>
                  <a:lnTo>
                    <a:pt x="350608" y="55029"/>
                  </a:lnTo>
                  <a:lnTo>
                    <a:pt x="355130" y="61785"/>
                  </a:lnTo>
                  <a:lnTo>
                    <a:pt x="358940" y="68922"/>
                  </a:lnTo>
                  <a:lnTo>
                    <a:pt x="362051" y="76441"/>
                  </a:lnTo>
                  <a:lnTo>
                    <a:pt x="365163" y="83947"/>
                  </a:lnTo>
                  <a:lnTo>
                    <a:pt x="367512" y="91694"/>
                  </a:lnTo>
                  <a:lnTo>
                    <a:pt x="369100" y="99669"/>
                  </a:lnTo>
                  <a:lnTo>
                    <a:pt x="370687" y="107645"/>
                  </a:lnTo>
                  <a:lnTo>
                    <a:pt x="371475" y="115697"/>
                  </a:lnTo>
                  <a:lnTo>
                    <a:pt x="371475" y="123825"/>
                  </a:lnTo>
                  <a:lnTo>
                    <a:pt x="371475" y="257175"/>
                  </a:lnTo>
                  <a:lnTo>
                    <a:pt x="371475" y="265303"/>
                  </a:lnTo>
                  <a:lnTo>
                    <a:pt x="370687" y="273354"/>
                  </a:lnTo>
                  <a:lnTo>
                    <a:pt x="369100" y="281330"/>
                  </a:lnTo>
                  <a:lnTo>
                    <a:pt x="367512" y="289306"/>
                  </a:lnTo>
                  <a:lnTo>
                    <a:pt x="365163" y="297053"/>
                  </a:lnTo>
                  <a:lnTo>
                    <a:pt x="362051" y="304558"/>
                  </a:lnTo>
                  <a:lnTo>
                    <a:pt x="358940" y="312077"/>
                  </a:lnTo>
                  <a:lnTo>
                    <a:pt x="335203" y="344728"/>
                  </a:lnTo>
                  <a:lnTo>
                    <a:pt x="302552" y="368465"/>
                  </a:lnTo>
                  <a:lnTo>
                    <a:pt x="295033" y="371576"/>
                  </a:lnTo>
                  <a:lnTo>
                    <a:pt x="287528" y="374688"/>
                  </a:lnTo>
                  <a:lnTo>
                    <a:pt x="279781" y="377037"/>
                  </a:lnTo>
                  <a:lnTo>
                    <a:pt x="271805" y="378625"/>
                  </a:lnTo>
                  <a:lnTo>
                    <a:pt x="263829" y="380212"/>
                  </a:lnTo>
                  <a:lnTo>
                    <a:pt x="255778" y="381000"/>
                  </a:lnTo>
                  <a:lnTo>
                    <a:pt x="247650" y="381000"/>
                  </a:lnTo>
                  <a:lnTo>
                    <a:pt x="123825" y="381000"/>
                  </a:lnTo>
                  <a:lnTo>
                    <a:pt x="115697" y="381000"/>
                  </a:lnTo>
                  <a:lnTo>
                    <a:pt x="107645" y="380212"/>
                  </a:lnTo>
                  <a:lnTo>
                    <a:pt x="99669" y="378625"/>
                  </a:lnTo>
                  <a:lnTo>
                    <a:pt x="91694" y="377037"/>
                  </a:lnTo>
                  <a:lnTo>
                    <a:pt x="83947" y="374688"/>
                  </a:lnTo>
                  <a:lnTo>
                    <a:pt x="76441" y="371576"/>
                  </a:lnTo>
                  <a:lnTo>
                    <a:pt x="68922" y="368465"/>
                  </a:lnTo>
                  <a:lnTo>
                    <a:pt x="36271" y="344728"/>
                  </a:lnTo>
                  <a:lnTo>
                    <a:pt x="30518" y="338975"/>
                  </a:lnTo>
                  <a:lnTo>
                    <a:pt x="9423" y="304558"/>
                  </a:lnTo>
                  <a:lnTo>
                    <a:pt x="6311" y="297053"/>
                  </a:lnTo>
                  <a:lnTo>
                    <a:pt x="3962" y="289306"/>
                  </a:lnTo>
                  <a:lnTo>
                    <a:pt x="2387" y="281330"/>
                  </a:lnTo>
                  <a:lnTo>
                    <a:pt x="800" y="273354"/>
                  </a:lnTo>
                  <a:lnTo>
                    <a:pt x="0" y="265303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12836" y="3740837"/>
            <a:ext cx="362839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67735" algn="l"/>
              </a:tabLst>
            </a:pPr>
            <a:r>
              <a:rPr sz="2000" dirty="0">
                <a:solidFill>
                  <a:srgbClr val="3D3E43"/>
                </a:solidFill>
                <a:latin typeface="Verdana"/>
                <a:cs typeface="Verdana"/>
              </a:rPr>
              <a:t>	</a:t>
            </a:r>
            <a:r>
              <a:rPr lang="he-IL" sz="2000" spc="-60" dirty="0">
                <a:solidFill>
                  <a:srgbClr val="3D3E43"/>
                </a:solidFill>
                <a:latin typeface="Verdana"/>
                <a:cs typeface="Verdana"/>
              </a:rPr>
              <a:t>2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25975" y="3754440"/>
            <a:ext cx="2734310" cy="13439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19734" algn="r">
              <a:lnSpc>
                <a:spcPct val="109800"/>
              </a:lnSpc>
              <a:spcBef>
                <a:spcPts val="90"/>
              </a:spcBef>
            </a:pPr>
            <a:r>
              <a:rPr lang="he-IL" sz="1600" b="1" dirty="0"/>
              <a:t>בדיקת השפעת המומנטום</a:t>
            </a:r>
            <a:br>
              <a:rPr lang="he-IL" sz="1600" dirty="0"/>
            </a:br>
            <a:r>
              <a:rPr lang="he-IL" sz="1600" dirty="0"/>
              <a:t>בדיקה האם תזמון פסק הזמן ביחס למומנטום משפיע על האפקטיביות בפועל של פסק הזמן.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15" name="object 15"/>
          <p:cNvGrpSpPr>
            <a:grpSpLocks/>
          </p:cNvGrpSpPr>
          <p:nvPr/>
        </p:nvGrpSpPr>
        <p:grpSpPr>
          <a:xfrm>
            <a:off x="10853531" y="3773490"/>
            <a:ext cx="395372" cy="355195"/>
            <a:chOff x="7567611" y="3738562"/>
            <a:chExt cx="381001" cy="381000"/>
          </a:xfrm>
        </p:grpSpPr>
        <p:sp>
          <p:nvSpPr>
            <p:cNvPr id="16" name="object 16"/>
            <p:cNvSpPr>
              <a:spLocks/>
            </p:cNvSpPr>
            <p:nvPr/>
          </p:nvSpPr>
          <p:spPr>
            <a:xfrm>
              <a:off x="7567611" y="37385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57174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2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257174"/>
                  </a:lnTo>
                  <a:lnTo>
                    <a:pt x="9423" y="304558"/>
                  </a:lnTo>
                  <a:lnTo>
                    <a:pt x="36258" y="344728"/>
                  </a:lnTo>
                  <a:lnTo>
                    <a:pt x="76441" y="371576"/>
                  </a:lnTo>
                  <a:lnTo>
                    <a:pt x="123824" y="380999"/>
                  </a:lnTo>
                  <a:lnTo>
                    <a:pt x="257174" y="380999"/>
                  </a:lnTo>
                  <a:lnTo>
                    <a:pt x="304558" y="371576"/>
                  </a:lnTo>
                  <a:lnTo>
                    <a:pt x="344728" y="344728"/>
                  </a:lnTo>
                  <a:lnTo>
                    <a:pt x="371576" y="304558"/>
                  </a:lnTo>
                  <a:lnTo>
                    <a:pt x="380999" y="257174"/>
                  </a:lnTo>
                  <a:lnTo>
                    <a:pt x="380999" y="123824"/>
                  </a:lnTo>
                  <a:lnTo>
                    <a:pt x="371576" y="76441"/>
                  </a:lnTo>
                  <a:lnTo>
                    <a:pt x="344728" y="36271"/>
                  </a:lnTo>
                  <a:lnTo>
                    <a:pt x="304558" y="9423"/>
                  </a:lnTo>
                  <a:lnTo>
                    <a:pt x="257174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18"/>
            <p:cNvSpPr>
              <a:spLocks/>
            </p:cNvSpPr>
            <p:nvPr/>
          </p:nvSpPr>
          <p:spPr>
            <a:xfrm>
              <a:off x="7567612" y="37385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2571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71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57175" y="0"/>
                  </a:lnTo>
                  <a:lnTo>
                    <a:pt x="265303" y="0"/>
                  </a:lnTo>
                  <a:lnTo>
                    <a:pt x="273354" y="800"/>
                  </a:lnTo>
                  <a:lnTo>
                    <a:pt x="312077" y="12534"/>
                  </a:lnTo>
                  <a:lnTo>
                    <a:pt x="344728" y="36271"/>
                  </a:lnTo>
                  <a:lnTo>
                    <a:pt x="350481" y="42011"/>
                  </a:lnTo>
                  <a:lnTo>
                    <a:pt x="355612" y="48272"/>
                  </a:lnTo>
                  <a:lnTo>
                    <a:pt x="360133" y="55029"/>
                  </a:lnTo>
                  <a:lnTo>
                    <a:pt x="364655" y="61785"/>
                  </a:lnTo>
                  <a:lnTo>
                    <a:pt x="368465" y="68922"/>
                  </a:lnTo>
                  <a:lnTo>
                    <a:pt x="371576" y="76441"/>
                  </a:lnTo>
                  <a:lnTo>
                    <a:pt x="374688" y="83947"/>
                  </a:lnTo>
                  <a:lnTo>
                    <a:pt x="377037" y="91694"/>
                  </a:lnTo>
                  <a:lnTo>
                    <a:pt x="378625" y="99669"/>
                  </a:lnTo>
                  <a:lnTo>
                    <a:pt x="380212" y="107645"/>
                  </a:lnTo>
                  <a:lnTo>
                    <a:pt x="381000" y="115697"/>
                  </a:lnTo>
                  <a:lnTo>
                    <a:pt x="381000" y="123825"/>
                  </a:lnTo>
                  <a:lnTo>
                    <a:pt x="381000" y="257175"/>
                  </a:lnTo>
                  <a:lnTo>
                    <a:pt x="381000" y="265303"/>
                  </a:lnTo>
                  <a:lnTo>
                    <a:pt x="380212" y="273354"/>
                  </a:lnTo>
                  <a:lnTo>
                    <a:pt x="378625" y="281330"/>
                  </a:lnTo>
                  <a:lnTo>
                    <a:pt x="377037" y="289306"/>
                  </a:lnTo>
                  <a:lnTo>
                    <a:pt x="374688" y="297053"/>
                  </a:lnTo>
                  <a:lnTo>
                    <a:pt x="371576" y="304558"/>
                  </a:lnTo>
                  <a:lnTo>
                    <a:pt x="368465" y="312077"/>
                  </a:lnTo>
                  <a:lnTo>
                    <a:pt x="344728" y="344728"/>
                  </a:lnTo>
                  <a:lnTo>
                    <a:pt x="338975" y="350481"/>
                  </a:lnTo>
                  <a:lnTo>
                    <a:pt x="304558" y="371576"/>
                  </a:lnTo>
                  <a:lnTo>
                    <a:pt x="281330" y="378625"/>
                  </a:lnTo>
                  <a:lnTo>
                    <a:pt x="273354" y="380212"/>
                  </a:lnTo>
                  <a:lnTo>
                    <a:pt x="265303" y="381000"/>
                  </a:lnTo>
                  <a:lnTo>
                    <a:pt x="257175" y="381000"/>
                  </a:lnTo>
                  <a:lnTo>
                    <a:pt x="123825" y="381000"/>
                  </a:lnTo>
                  <a:lnTo>
                    <a:pt x="115697" y="381000"/>
                  </a:lnTo>
                  <a:lnTo>
                    <a:pt x="107645" y="380212"/>
                  </a:lnTo>
                  <a:lnTo>
                    <a:pt x="99669" y="378625"/>
                  </a:lnTo>
                  <a:lnTo>
                    <a:pt x="91694" y="377037"/>
                  </a:lnTo>
                  <a:lnTo>
                    <a:pt x="83947" y="374688"/>
                  </a:lnTo>
                  <a:lnTo>
                    <a:pt x="76441" y="371576"/>
                  </a:lnTo>
                  <a:lnTo>
                    <a:pt x="68922" y="368465"/>
                  </a:lnTo>
                  <a:lnTo>
                    <a:pt x="36271" y="344728"/>
                  </a:lnTo>
                  <a:lnTo>
                    <a:pt x="30518" y="338975"/>
                  </a:lnTo>
                  <a:lnTo>
                    <a:pt x="9423" y="304558"/>
                  </a:lnTo>
                  <a:lnTo>
                    <a:pt x="6311" y="297053"/>
                  </a:lnTo>
                  <a:lnTo>
                    <a:pt x="3962" y="289306"/>
                  </a:lnTo>
                  <a:lnTo>
                    <a:pt x="2374" y="281330"/>
                  </a:lnTo>
                  <a:lnTo>
                    <a:pt x="800" y="273354"/>
                  </a:lnTo>
                  <a:lnTo>
                    <a:pt x="0" y="265303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/>
          </p:cNvSpPr>
          <p:nvPr/>
        </p:nvSpPr>
        <p:spPr>
          <a:xfrm>
            <a:off x="10955284" y="3782614"/>
            <a:ext cx="179235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he-IL" sz="2000" spc="-65" dirty="0">
                <a:solidFill>
                  <a:srgbClr val="3D3E43"/>
                </a:solidFill>
                <a:latin typeface="Verdana"/>
                <a:cs typeface="Verdana"/>
              </a:rPr>
              <a:t>1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07366" y="3773490"/>
            <a:ext cx="2670810" cy="100219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פיתוח מודל למידת מכונה</a:t>
            </a:r>
            <a:br>
              <a:rPr lang="he-IL" sz="1600" dirty="0"/>
            </a:br>
            <a:r>
              <a:rPr lang="he-IL" sz="1600" dirty="0"/>
              <a:t>בניית מודל חיזוי שמזהה את הזמן האופטימלי לפסק זמן בתנאים משתנים בזמן אמת</a:t>
            </a:r>
            <a:r>
              <a:rPr sz="1350" spc="-50" dirty="0">
                <a:solidFill>
                  <a:srgbClr val="3D3E43"/>
                </a:solidFill>
                <a:latin typeface="Verdana"/>
                <a:cs typeface="Verdana"/>
              </a:rPr>
              <a:t>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31" name="object 9">
            <a:extLst>
              <a:ext uri="{FF2B5EF4-FFF2-40B4-BE49-F238E27FC236}">
                <a16:creationId xmlns:a16="http://schemas.microsoft.com/office/drawing/2014/main" id="{B37C83AE-3BF3-C0E3-8718-EC73AB448195}"/>
              </a:ext>
            </a:extLst>
          </p:cNvPr>
          <p:cNvGrpSpPr/>
          <p:nvPr/>
        </p:nvGrpSpPr>
        <p:grpSpPr>
          <a:xfrm>
            <a:off x="3712804" y="3755824"/>
            <a:ext cx="381000" cy="390525"/>
            <a:chOff x="4086225" y="3733800"/>
            <a:chExt cx="381000" cy="390525"/>
          </a:xfrm>
        </p:grpSpPr>
        <p:sp>
          <p:nvSpPr>
            <p:cNvPr id="32" name="object 10">
              <a:extLst>
                <a:ext uri="{FF2B5EF4-FFF2-40B4-BE49-F238E27FC236}">
                  <a16:creationId xmlns:a16="http://schemas.microsoft.com/office/drawing/2014/main" id="{15FC3DC0-B17D-744F-3F6A-BEDBE12F7591}"/>
                </a:ext>
              </a:extLst>
            </p:cNvPr>
            <p:cNvSpPr/>
            <p:nvPr/>
          </p:nvSpPr>
          <p:spPr>
            <a:xfrm>
              <a:off x="4090987" y="373856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247649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7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257174"/>
                  </a:lnTo>
                  <a:lnTo>
                    <a:pt x="9423" y="304558"/>
                  </a:lnTo>
                  <a:lnTo>
                    <a:pt x="36271" y="344728"/>
                  </a:lnTo>
                  <a:lnTo>
                    <a:pt x="76441" y="371576"/>
                  </a:lnTo>
                  <a:lnTo>
                    <a:pt x="123824" y="380999"/>
                  </a:lnTo>
                  <a:lnTo>
                    <a:pt x="247649" y="380999"/>
                  </a:lnTo>
                  <a:lnTo>
                    <a:pt x="295033" y="371576"/>
                  </a:lnTo>
                  <a:lnTo>
                    <a:pt x="335203" y="344728"/>
                  </a:lnTo>
                  <a:lnTo>
                    <a:pt x="362051" y="304558"/>
                  </a:lnTo>
                  <a:lnTo>
                    <a:pt x="371474" y="257174"/>
                  </a:lnTo>
                  <a:lnTo>
                    <a:pt x="371474" y="123824"/>
                  </a:lnTo>
                  <a:lnTo>
                    <a:pt x="362051" y="76441"/>
                  </a:lnTo>
                  <a:lnTo>
                    <a:pt x="335203" y="36271"/>
                  </a:lnTo>
                  <a:lnTo>
                    <a:pt x="295033" y="9423"/>
                  </a:lnTo>
                  <a:lnTo>
                    <a:pt x="24764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11">
              <a:extLst>
                <a:ext uri="{FF2B5EF4-FFF2-40B4-BE49-F238E27FC236}">
                  <a16:creationId xmlns:a16="http://schemas.microsoft.com/office/drawing/2014/main" id="{25DF229B-F6F0-9957-5FFD-FA2F71C95EF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5749" y="3743325"/>
              <a:ext cx="361949" cy="371474"/>
            </a:xfrm>
            <a:prstGeom prst="rect">
              <a:avLst/>
            </a:prstGeom>
          </p:spPr>
        </p:pic>
        <p:sp>
          <p:nvSpPr>
            <p:cNvPr id="34" name="object 12">
              <a:extLst>
                <a:ext uri="{FF2B5EF4-FFF2-40B4-BE49-F238E27FC236}">
                  <a16:creationId xmlns:a16="http://schemas.microsoft.com/office/drawing/2014/main" id="{680BF5CC-72E6-E6BD-6176-3300E520A9F5}"/>
                </a:ext>
              </a:extLst>
            </p:cNvPr>
            <p:cNvSpPr/>
            <p:nvPr/>
          </p:nvSpPr>
          <p:spPr>
            <a:xfrm>
              <a:off x="4090987" y="3738562"/>
              <a:ext cx="371475" cy="381000"/>
            </a:xfrm>
            <a:custGeom>
              <a:avLst/>
              <a:gdLst/>
              <a:ahLst/>
              <a:cxnLst/>
              <a:rect l="l" t="t" r="r" b="b"/>
              <a:pathLst>
                <a:path w="371475" h="381000">
                  <a:moveTo>
                    <a:pt x="0" y="2571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87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16357" y="61785"/>
                  </a:lnTo>
                  <a:lnTo>
                    <a:pt x="20866" y="55029"/>
                  </a:lnTo>
                  <a:lnTo>
                    <a:pt x="25387" y="48272"/>
                  </a:lnTo>
                  <a:lnTo>
                    <a:pt x="30518" y="42011"/>
                  </a:lnTo>
                  <a:lnTo>
                    <a:pt x="36271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47650" y="0"/>
                  </a:lnTo>
                  <a:lnTo>
                    <a:pt x="255778" y="0"/>
                  </a:lnTo>
                  <a:lnTo>
                    <a:pt x="263829" y="800"/>
                  </a:lnTo>
                  <a:lnTo>
                    <a:pt x="271805" y="2374"/>
                  </a:lnTo>
                  <a:lnTo>
                    <a:pt x="279781" y="3962"/>
                  </a:lnTo>
                  <a:lnTo>
                    <a:pt x="287528" y="6311"/>
                  </a:lnTo>
                  <a:lnTo>
                    <a:pt x="295033" y="9423"/>
                  </a:lnTo>
                  <a:lnTo>
                    <a:pt x="302552" y="12534"/>
                  </a:lnTo>
                  <a:lnTo>
                    <a:pt x="335203" y="36271"/>
                  </a:lnTo>
                  <a:lnTo>
                    <a:pt x="340956" y="42011"/>
                  </a:lnTo>
                  <a:lnTo>
                    <a:pt x="346087" y="48272"/>
                  </a:lnTo>
                  <a:lnTo>
                    <a:pt x="350608" y="55029"/>
                  </a:lnTo>
                  <a:lnTo>
                    <a:pt x="355130" y="61785"/>
                  </a:lnTo>
                  <a:lnTo>
                    <a:pt x="358940" y="68922"/>
                  </a:lnTo>
                  <a:lnTo>
                    <a:pt x="362051" y="76441"/>
                  </a:lnTo>
                  <a:lnTo>
                    <a:pt x="365163" y="83947"/>
                  </a:lnTo>
                  <a:lnTo>
                    <a:pt x="367512" y="91694"/>
                  </a:lnTo>
                  <a:lnTo>
                    <a:pt x="369100" y="99669"/>
                  </a:lnTo>
                  <a:lnTo>
                    <a:pt x="370687" y="107645"/>
                  </a:lnTo>
                  <a:lnTo>
                    <a:pt x="371475" y="115697"/>
                  </a:lnTo>
                  <a:lnTo>
                    <a:pt x="371475" y="123825"/>
                  </a:lnTo>
                  <a:lnTo>
                    <a:pt x="371475" y="257175"/>
                  </a:lnTo>
                  <a:lnTo>
                    <a:pt x="371475" y="265303"/>
                  </a:lnTo>
                  <a:lnTo>
                    <a:pt x="370687" y="273354"/>
                  </a:lnTo>
                  <a:lnTo>
                    <a:pt x="369100" y="281330"/>
                  </a:lnTo>
                  <a:lnTo>
                    <a:pt x="367512" y="289306"/>
                  </a:lnTo>
                  <a:lnTo>
                    <a:pt x="365163" y="297053"/>
                  </a:lnTo>
                  <a:lnTo>
                    <a:pt x="362051" y="304558"/>
                  </a:lnTo>
                  <a:lnTo>
                    <a:pt x="358940" y="312077"/>
                  </a:lnTo>
                  <a:lnTo>
                    <a:pt x="335203" y="344728"/>
                  </a:lnTo>
                  <a:lnTo>
                    <a:pt x="302552" y="368465"/>
                  </a:lnTo>
                  <a:lnTo>
                    <a:pt x="295033" y="371576"/>
                  </a:lnTo>
                  <a:lnTo>
                    <a:pt x="287528" y="374688"/>
                  </a:lnTo>
                  <a:lnTo>
                    <a:pt x="279781" y="377037"/>
                  </a:lnTo>
                  <a:lnTo>
                    <a:pt x="271805" y="378625"/>
                  </a:lnTo>
                  <a:lnTo>
                    <a:pt x="263829" y="380212"/>
                  </a:lnTo>
                  <a:lnTo>
                    <a:pt x="255778" y="381000"/>
                  </a:lnTo>
                  <a:lnTo>
                    <a:pt x="247650" y="381000"/>
                  </a:lnTo>
                  <a:lnTo>
                    <a:pt x="123825" y="381000"/>
                  </a:lnTo>
                  <a:lnTo>
                    <a:pt x="115697" y="381000"/>
                  </a:lnTo>
                  <a:lnTo>
                    <a:pt x="107645" y="380212"/>
                  </a:lnTo>
                  <a:lnTo>
                    <a:pt x="99669" y="378625"/>
                  </a:lnTo>
                  <a:lnTo>
                    <a:pt x="91694" y="377037"/>
                  </a:lnTo>
                  <a:lnTo>
                    <a:pt x="83947" y="374688"/>
                  </a:lnTo>
                  <a:lnTo>
                    <a:pt x="76441" y="371576"/>
                  </a:lnTo>
                  <a:lnTo>
                    <a:pt x="68922" y="368465"/>
                  </a:lnTo>
                  <a:lnTo>
                    <a:pt x="36271" y="344728"/>
                  </a:lnTo>
                  <a:lnTo>
                    <a:pt x="30518" y="338975"/>
                  </a:lnTo>
                  <a:lnTo>
                    <a:pt x="9423" y="304558"/>
                  </a:lnTo>
                  <a:lnTo>
                    <a:pt x="6311" y="297053"/>
                  </a:lnTo>
                  <a:lnTo>
                    <a:pt x="3962" y="289306"/>
                  </a:lnTo>
                  <a:lnTo>
                    <a:pt x="2387" y="281330"/>
                  </a:lnTo>
                  <a:lnTo>
                    <a:pt x="800" y="273354"/>
                  </a:lnTo>
                  <a:lnTo>
                    <a:pt x="0" y="265303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תיבת טקסט 34">
            <a:extLst>
              <a:ext uri="{FF2B5EF4-FFF2-40B4-BE49-F238E27FC236}">
                <a16:creationId xmlns:a16="http://schemas.microsoft.com/office/drawing/2014/main" id="{71E43F8C-9F9F-0793-3CAB-C8564F17E97E}"/>
              </a:ext>
            </a:extLst>
          </p:cNvPr>
          <p:cNvSpPr txBox="1"/>
          <p:nvPr/>
        </p:nvSpPr>
        <p:spPr>
          <a:xfrm>
            <a:off x="3717566" y="3782614"/>
            <a:ext cx="3714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he-IL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3122" y="1044563"/>
            <a:ext cx="88906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he-IL" sz="2800" dirty="0"/>
              <a:t>אתגרים אלגוריתמיים: מה מסתתר בנתונים</a:t>
            </a:r>
            <a:endParaRPr sz="2700" dirty="0"/>
          </a:p>
        </p:txBody>
      </p:sp>
      <p:grpSp>
        <p:nvGrpSpPr>
          <p:cNvPr id="3" name="object 3"/>
          <p:cNvGrpSpPr/>
          <p:nvPr/>
        </p:nvGrpSpPr>
        <p:grpSpPr>
          <a:xfrm>
            <a:off x="581024" y="1809750"/>
            <a:ext cx="3314700" cy="1847850"/>
            <a:chOff x="581024" y="1809750"/>
            <a:chExt cx="3314700" cy="1847850"/>
          </a:xfrm>
        </p:grpSpPr>
        <p:sp>
          <p:nvSpPr>
            <p:cNvPr id="4" name="object 4"/>
            <p:cNvSpPr/>
            <p:nvPr/>
          </p:nvSpPr>
          <p:spPr>
            <a:xfrm>
              <a:off x="600913" y="1809762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99" y="128587"/>
                  </a:moveTo>
                  <a:lnTo>
                    <a:pt x="3285007" y="79375"/>
                  </a:lnTo>
                  <a:lnTo>
                    <a:pt x="3257588" y="38163"/>
                  </a:lnTo>
                  <a:lnTo>
                    <a:pt x="3257423" y="37973"/>
                  </a:lnTo>
                  <a:lnTo>
                    <a:pt x="3257143" y="37655"/>
                  </a:lnTo>
                  <a:lnTo>
                    <a:pt x="3247745" y="29121"/>
                  </a:lnTo>
                  <a:lnTo>
                    <a:pt x="3237674" y="21640"/>
                  </a:lnTo>
                  <a:lnTo>
                    <a:pt x="3233331" y="19050"/>
                  </a:lnTo>
                  <a:lnTo>
                    <a:pt x="3226892" y="15189"/>
                  </a:lnTo>
                  <a:lnTo>
                    <a:pt x="3178886" y="609"/>
                  </a:lnTo>
                  <a:lnTo>
                    <a:pt x="316621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66211" y="19050"/>
                  </a:lnTo>
                  <a:lnTo>
                    <a:pt x="3208134" y="27381"/>
                  </a:lnTo>
                  <a:lnTo>
                    <a:pt x="3243669" y="51130"/>
                  </a:lnTo>
                  <a:lnTo>
                    <a:pt x="3267405" y="86664"/>
                  </a:lnTo>
                  <a:lnTo>
                    <a:pt x="3275749" y="128587"/>
                  </a:lnTo>
                  <a:lnTo>
                    <a:pt x="3275749" y="1719262"/>
                  </a:lnTo>
                  <a:lnTo>
                    <a:pt x="3267405" y="1761172"/>
                  </a:lnTo>
                  <a:lnTo>
                    <a:pt x="3244126" y="1796211"/>
                  </a:lnTo>
                  <a:lnTo>
                    <a:pt x="3243669" y="1796719"/>
                  </a:lnTo>
                  <a:lnTo>
                    <a:pt x="3208134" y="1820456"/>
                  </a:lnTo>
                  <a:lnTo>
                    <a:pt x="316621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92" y="1786521"/>
                  </a:lnTo>
                  <a:lnTo>
                    <a:pt x="0" y="1782406"/>
                  </a:lnTo>
                  <a:lnTo>
                    <a:pt x="609" y="1786521"/>
                  </a:lnTo>
                  <a:lnTo>
                    <a:pt x="2413" y="1793722"/>
                  </a:lnTo>
                  <a:lnTo>
                    <a:pt x="4851" y="1800517"/>
                  </a:lnTo>
                  <a:lnTo>
                    <a:pt x="4953" y="1800809"/>
                  </a:lnTo>
                  <a:lnTo>
                    <a:pt x="33007" y="1835010"/>
                  </a:lnTo>
                  <a:lnTo>
                    <a:pt x="75349" y="1847850"/>
                  </a:lnTo>
                  <a:lnTo>
                    <a:pt x="3166211" y="1847850"/>
                  </a:lnTo>
                  <a:lnTo>
                    <a:pt x="3215424" y="1838058"/>
                  </a:lnTo>
                  <a:lnTo>
                    <a:pt x="3257131" y="1810181"/>
                  </a:lnTo>
                  <a:lnTo>
                    <a:pt x="3257588" y="1809673"/>
                  </a:lnTo>
                  <a:lnTo>
                    <a:pt x="3265652" y="1800809"/>
                  </a:lnTo>
                  <a:lnTo>
                    <a:pt x="3289300" y="1756524"/>
                  </a:lnTo>
                  <a:lnTo>
                    <a:pt x="3294799" y="1719262"/>
                  </a:lnTo>
                  <a:lnTo>
                    <a:pt x="3294799" y="128587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24" y="1809750"/>
              <a:ext cx="76199" cy="18478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35025" y="1982787"/>
            <a:ext cx="2881630" cy="509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אופי דינמי</a:t>
            </a:r>
            <a:r>
              <a:rPr lang="he-IL" sz="1600" dirty="0"/>
              <a:t>: מומנטום חיובי מלפני שתי דקות עשוי להפוך לשלילי.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48124" y="1809750"/>
            <a:ext cx="3314700" cy="1847850"/>
            <a:chOff x="4048124" y="1809750"/>
            <a:chExt cx="3314700" cy="1847850"/>
          </a:xfrm>
        </p:grpSpPr>
        <p:sp>
          <p:nvSpPr>
            <p:cNvPr id="8" name="object 8"/>
            <p:cNvSpPr/>
            <p:nvPr/>
          </p:nvSpPr>
          <p:spPr>
            <a:xfrm>
              <a:off x="4068013" y="1809762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99" y="128587"/>
                  </a:moveTo>
                  <a:lnTo>
                    <a:pt x="3285007" y="79375"/>
                  </a:lnTo>
                  <a:lnTo>
                    <a:pt x="3257588" y="38163"/>
                  </a:lnTo>
                  <a:lnTo>
                    <a:pt x="3257423" y="37973"/>
                  </a:lnTo>
                  <a:lnTo>
                    <a:pt x="3257143" y="37655"/>
                  </a:lnTo>
                  <a:lnTo>
                    <a:pt x="3247745" y="29121"/>
                  </a:lnTo>
                  <a:lnTo>
                    <a:pt x="3237674" y="21640"/>
                  </a:lnTo>
                  <a:lnTo>
                    <a:pt x="3233331" y="19050"/>
                  </a:lnTo>
                  <a:lnTo>
                    <a:pt x="3226892" y="15189"/>
                  </a:lnTo>
                  <a:lnTo>
                    <a:pt x="3178886" y="609"/>
                  </a:lnTo>
                  <a:lnTo>
                    <a:pt x="316621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66211" y="19050"/>
                  </a:lnTo>
                  <a:lnTo>
                    <a:pt x="3208121" y="27381"/>
                  </a:lnTo>
                  <a:lnTo>
                    <a:pt x="3243669" y="51130"/>
                  </a:lnTo>
                  <a:lnTo>
                    <a:pt x="3267405" y="86664"/>
                  </a:lnTo>
                  <a:lnTo>
                    <a:pt x="3275749" y="128587"/>
                  </a:lnTo>
                  <a:lnTo>
                    <a:pt x="3275749" y="1719262"/>
                  </a:lnTo>
                  <a:lnTo>
                    <a:pt x="3267405" y="1761172"/>
                  </a:lnTo>
                  <a:lnTo>
                    <a:pt x="3244126" y="1796211"/>
                  </a:lnTo>
                  <a:lnTo>
                    <a:pt x="3243669" y="1796719"/>
                  </a:lnTo>
                  <a:lnTo>
                    <a:pt x="3208121" y="1820456"/>
                  </a:lnTo>
                  <a:lnTo>
                    <a:pt x="316621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79" y="1786521"/>
                  </a:lnTo>
                  <a:lnTo>
                    <a:pt x="0" y="1782419"/>
                  </a:lnTo>
                  <a:lnTo>
                    <a:pt x="609" y="1786521"/>
                  </a:lnTo>
                  <a:lnTo>
                    <a:pt x="2413" y="1793722"/>
                  </a:lnTo>
                  <a:lnTo>
                    <a:pt x="4851" y="1800517"/>
                  </a:lnTo>
                  <a:lnTo>
                    <a:pt x="4953" y="1800809"/>
                  </a:lnTo>
                  <a:lnTo>
                    <a:pt x="33007" y="1835010"/>
                  </a:lnTo>
                  <a:lnTo>
                    <a:pt x="75349" y="1847850"/>
                  </a:lnTo>
                  <a:lnTo>
                    <a:pt x="3166211" y="1847850"/>
                  </a:lnTo>
                  <a:lnTo>
                    <a:pt x="3215424" y="1838058"/>
                  </a:lnTo>
                  <a:lnTo>
                    <a:pt x="3257131" y="1810181"/>
                  </a:lnTo>
                  <a:lnTo>
                    <a:pt x="3257588" y="1809673"/>
                  </a:lnTo>
                  <a:lnTo>
                    <a:pt x="3265652" y="1800809"/>
                  </a:lnTo>
                  <a:lnTo>
                    <a:pt x="3289300" y="1756524"/>
                  </a:lnTo>
                  <a:lnTo>
                    <a:pt x="3294799" y="1719262"/>
                  </a:lnTo>
                  <a:lnTo>
                    <a:pt x="3294799" y="128587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48124" y="1809750"/>
              <a:ext cx="76199" cy="18478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765921" y="1967141"/>
            <a:ext cx="3080792" cy="1026499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911860" algn="r">
              <a:lnSpc>
                <a:spcPct val="106100"/>
              </a:lnSpc>
              <a:spcBef>
                <a:spcPts val="15"/>
              </a:spcBef>
            </a:pPr>
            <a:r>
              <a:rPr lang="he-IL" sz="1600" b="1" dirty="0"/>
              <a:t>תלות מרובת משתנים</a:t>
            </a:r>
            <a:r>
              <a:rPr lang="he-IL" sz="1600" dirty="0"/>
              <a:t>: המומנטום תלוי בו זמנית בנקודות, הגנה, עייפות וחוקים.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15224" y="1809750"/>
            <a:ext cx="3314700" cy="1847850"/>
            <a:chOff x="7515224" y="1809750"/>
            <a:chExt cx="3314700" cy="1847850"/>
          </a:xfrm>
        </p:grpSpPr>
        <p:sp>
          <p:nvSpPr>
            <p:cNvPr id="12" name="object 12"/>
            <p:cNvSpPr/>
            <p:nvPr/>
          </p:nvSpPr>
          <p:spPr>
            <a:xfrm>
              <a:off x="7535113" y="1809762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99" y="128587"/>
                  </a:moveTo>
                  <a:lnTo>
                    <a:pt x="3285007" y="79375"/>
                  </a:lnTo>
                  <a:lnTo>
                    <a:pt x="3257588" y="38163"/>
                  </a:lnTo>
                  <a:lnTo>
                    <a:pt x="3257423" y="37973"/>
                  </a:lnTo>
                  <a:lnTo>
                    <a:pt x="3257143" y="37655"/>
                  </a:lnTo>
                  <a:lnTo>
                    <a:pt x="3247745" y="29121"/>
                  </a:lnTo>
                  <a:lnTo>
                    <a:pt x="3237674" y="21640"/>
                  </a:lnTo>
                  <a:lnTo>
                    <a:pt x="3233331" y="19050"/>
                  </a:lnTo>
                  <a:lnTo>
                    <a:pt x="3226892" y="15189"/>
                  </a:lnTo>
                  <a:lnTo>
                    <a:pt x="3178886" y="609"/>
                  </a:lnTo>
                  <a:lnTo>
                    <a:pt x="316621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166211" y="19050"/>
                  </a:lnTo>
                  <a:lnTo>
                    <a:pt x="3208121" y="27381"/>
                  </a:lnTo>
                  <a:lnTo>
                    <a:pt x="3243669" y="51130"/>
                  </a:lnTo>
                  <a:lnTo>
                    <a:pt x="3267405" y="86664"/>
                  </a:lnTo>
                  <a:lnTo>
                    <a:pt x="3275749" y="128587"/>
                  </a:lnTo>
                  <a:lnTo>
                    <a:pt x="3275749" y="1719262"/>
                  </a:lnTo>
                  <a:lnTo>
                    <a:pt x="3267405" y="1761172"/>
                  </a:lnTo>
                  <a:lnTo>
                    <a:pt x="3244126" y="1796211"/>
                  </a:lnTo>
                  <a:lnTo>
                    <a:pt x="3243669" y="1796719"/>
                  </a:lnTo>
                  <a:lnTo>
                    <a:pt x="3208121" y="1820456"/>
                  </a:lnTo>
                  <a:lnTo>
                    <a:pt x="3166211" y="1828800"/>
                  </a:lnTo>
                  <a:lnTo>
                    <a:pt x="75349" y="1828800"/>
                  </a:lnTo>
                  <a:lnTo>
                    <a:pt x="33007" y="1819173"/>
                  </a:lnTo>
                  <a:lnTo>
                    <a:pt x="1079" y="1786521"/>
                  </a:lnTo>
                  <a:lnTo>
                    <a:pt x="0" y="1782419"/>
                  </a:lnTo>
                  <a:lnTo>
                    <a:pt x="609" y="1786521"/>
                  </a:lnTo>
                  <a:lnTo>
                    <a:pt x="2413" y="1793722"/>
                  </a:lnTo>
                  <a:lnTo>
                    <a:pt x="4851" y="1800517"/>
                  </a:lnTo>
                  <a:lnTo>
                    <a:pt x="4953" y="1800809"/>
                  </a:lnTo>
                  <a:lnTo>
                    <a:pt x="33007" y="1835010"/>
                  </a:lnTo>
                  <a:lnTo>
                    <a:pt x="75349" y="1847850"/>
                  </a:lnTo>
                  <a:lnTo>
                    <a:pt x="3166211" y="1847850"/>
                  </a:lnTo>
                  <a:lnTo>
                    <a:pt x="3215424" y="1838058"/>
                  </a:lnTo>
                  <a:lnTo>
                    <a:pt x="3257131" y="1810181"/>
                  </a:lnTo>
                  <a:lnTo>
                    <a:pt x="3257588" y="1809673"/>
                  </a:lnTo>
                  <a:lnTo>
                    <a:pt x="3265652" y="1800809"/>
                  </a:lnTo>
                  <a:lnTo>
                    <a:pt x="3289300" y="1756524"/>
                  </a:lnTo>
                  <a:lnTo>
                    <a:pt x="3294799" y="1719262"/>
                  </a:lnTo>
                  <a:lnTo>
                    <a:pt x="3294799" y="128587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15224" y="1809750"/>
              <a:ext cx="76199" cy="18478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8223189" y="1991443"/>
            <a:ext cx="2354580" cy="100219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כימות מומנטום</a:t>
            </a:r>
            <a:r>
              <a:rPr lang="he-IL" sz="1600" dirty="0"/>
              <a:t>: הפיכת רעיון מופשט לנתונים מדידים דורשת הנדסת תכונות מתקדמת.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45890" y="3829052"/>
            <a:ext cx="3314700" cy="1571625"/>
            <a:chOff x="581024" y="3829050"/>
            <a:chExt cx="3314700" cy="1571625"/>
          </a:xfrm>
        </p:grpSpPr>
        <p:sp>
          <p:nvSpPr>
            <p:cNvPr id="16" name="object 16"/>
            <p:cNvSpPr/>
            <p:nvPr/>
          </p:nvSpPr>
          <p:spPr>
            <a:xfrm>
              <a:off x="600913" y="3829062"/>
              <a:ext cx="3295015" cy="1571625"/>
            </a:xfrm>
            <a:custGeom>
              <a:avLst/>
              <a:gdLst/>
              <a:ahLst/>
              <a:cxnLst/>
              <a:rect l="l" t="t" r="r" b="b"/>
              <a:pathLst>
                <a:path w="3295015" h="1571625">
                  <a:moveTo>
                    <a:pt x="3294799" y="128587"/>
                  </a:moveTo>
                  <a:lnTo>
                    <a:pt x="3285007" y="79375"/>
                  </a:lnTo>
                  <a:lnTo>
                    <a:pt x="3257588" y="38163"/>
                  </a:lnTo>
                  <a:lnTo>
                    <a:pt x="3257423" y="37973"/>
                  </a:lnTo>
                  <a:lnTo>
                    <a:pt x="3257143" y="37655"/>
                  </a:lnTo>
                  <a:lnTo>
                    <a:pt x="3247745" y="29121"/>
                  </a:lnTo>
                  <a:lnTo>
                    <a:pt x="3237674" y="21640"/>
                  </a:lnTo>
                  <a:lnTo>
                    <a:pt x="3233331" y="19050"/>
                  </a:lnTo>
                  <a:lnTo>
                    <a:pt x="3226892" y="15189"/>
                  </a:lnTo>
                  <a:lnTo>
                    <a:pt x="3178886" y="609"/>
                  </a:lnTo>
                  <a:lnTo>
                    <a:pt x="316621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3166211" y="19050"/>
                  </a:lnTo>
                  <a:lnTo>
                    <a:pt x="3208134" y="27381"/>
                  </a:lnTo>
                  <a:lnTo>
                    <a:pt x="3243669" y="51130"/>
                  </a:lnTo>
                  <a:lnTo>
                    <a:pt x="3267405" y="86664"/>
                  </a:lnTo>
                  <a:lnTo>
                    <a:pt x="3275749" y="128587"/>
                  </a:lnTo>
                  <a:lnTo>
                    <a:pt x="3275749" y="1443037"/>
                  </a:lnTo>
                  <a:lnTo>
                    <a:pt x="3267405" y="1484947"/>
                  </a:lnTo>
                  <a:lnTo>
                    <a:pt x="3244126" y="1519986"/>
                  </a:lnTo>
                  <a:lnTo>
                    <a:pt x="3208134" y="1544231"/>
                  </a:lnTo>
                  <a:lnTo>
                    <a:pt x="316621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92" y="1510284"/>
                  </a:lnTo>
                  <a:lnTo>
                    <a:pt x="0" y="1506169"/>
                  </a:lnTo>
                  <a:lnTo>
                    <a:pt x="609" y="1510284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3166211" y="1571625"/>
                  </a:lnTo>
                  <a:lnTo>
                    <a:pt x="3215424" y="1561833"/>
                  </a:lnTo>
                  <a:lnTo>
                    <a:pt x="3257131" y="1533956"/>
                  </a:lnTo>
                  <a:lnTo>
                    <a:pt x="3285007" y="1492237"/>
                  </a:lnTo>
                  <a:lnTo>
                    <a:pt x="3294799" y="1443037"/>
                  </a:lnTo>
                  <a:lnTo>
                    <a:pt x="3294799" y="128587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4" y="3829050"/>
              <a:ext cx="76199" cy="157162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311156" y="3979100"/>
            <a:ext cx="2576195" cy="100219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אי-לינאריות</a:t>
            </a:r>
            <a:r>
              <a:rPr lang="he-IL" sz="1600" dirty="0"/>
              <a:t>: ריצת 6–0 בדקה האחרונה שונה לחלוטין מריצה זהה בתחילת המשחק – ההשפעה תלויה בהקשר הזמן.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515224" y="3829051"/>
            <a:ext cx="3314700" cy="1571625"/>
            <a:chOff x="4048124" y="3829050"/>
            <a:chExt cx="3314700" cy="1571625"/>
          </a:xfrm>
        </p:grpSpPr>
        <p:sp>
          <p:nvSpPr>
            <p:cNvPr id="20" name="object 20"/>
            <p:cNvSpPr/>
            <p:nvPr/>
          </p:nvSpPr>
          <p:spPr>
            <a:xfrm>
              <a:off x="4068013" y="3829062"/>
              <a:ext cx="3295015" cy="1571625"/>
            </a:xfrm>
            <a:custGeom>
              <a:avLst/>
              <a:gdLst/>
              <a:ahLst/>
              <a:cxnLst/>
              <a:rect l="l" t="t" r="r" b="b"/>
              <a:pathLst>
                <a:path w="3295015" h="1571625">
                  <a:moveTo>
                    <a:pt x="3294799" y="128587"/>
                  </a:moveTo>
                  <a:lnTo>
                    <a:pt x="3285007" y="79375"/>
                  </a:lnTo>
                  <a:lnTo>
                    <a:pt x="3257588" y="38163"/>
                  </a:lnTo>
                  <a:lnTo>
                    <a:pt x="3257423" y="37973"/>
                  </a:lnTo>
                  <a:lnTo>
                    <a:pt x="3257143" y="37655"/>
                  </a:lnTo>
                  <a:lnTo>
                    <a:pt x="3247745" y="29121"/>
                  </a:lnTo>
                  <a:lnTo>
                    <a:pt x="3237674" y="21640"/>
                  </a:lnTo>
                  <a:lnTo>
                    <a:pt x="3233331" y="19050"/>
                  </a:lnTo>
                  <a:lnTo>
                    <a:pt x="3226892" y="15189"/>
                  </a:lnTo>
                  <a:lnTo>
                    <a:pt x="3178886" y="609"/>
                  </a:lnTo>
                  <a:lnTo>
                    <a:pt x="3166211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5349" y="19050"/>
                  </a:lnTo>
                  <a:lnTo>
                    <a:pt x="3166211" y="19050"/>
                  </a:lnTo>
                  <a:lnTo>
                    <a:pt x="3208121" y="27381"/>
                  </a:lnTo>
                  <a:lnTo>
                    <a:pt x="3243669" y="51130"/>
                  </a:lnTo>
                  <a:lnTo>
                    <a:pt x="3267405" y="86664"/>
                  </a:lnTo>
                  <a:lnTo>
                    <a:pt x="3275749" y="128587"/>
                  </a:lnTo>
                  <a:lnTo>
                    <a:pt x="3275749" y="1443037"/>
                  </a:lnTo>
                  <a:lnTo>
                    <a:pt x="3267405" y="1484947"/>
                  </a:lnTo>
                  <a:lnTo>
                    <a:pt x="3244126" y="1519986"/>
                  </a:lnTo>
                  <a:lnTo>
                    <a:pt x="3208121" y="1544231"/>
                  </a:lnTo>
                  <a:lnTo>
                    <a:pt x="3166211" y="1552575"/>
                  </a:lnTo>
                  <a:lnTo>
                    <a:pt x="75349" y="1552575"/>
                  </a:lnTo>
                  <a:lnTo>
                    <a:pt x="33007" y="1542948"/>
                  </a:lnTo>
                  <a:lnTo>
                    <a:pt x="1079" y="1510284"/>
                  </a:lnTo>
                  <a:lnTo>
                    <a:pt x="0" y="1506181"/>
                  </a:lnTo>
                  <a:lnTo>
                    <a:pt x="609" y="1510284"/>
                  </a:lnTo>
                  <a:lnTo>
                    <a:pt x="2413" y="1517510"/>
                  </a:lnTo>
                  <a:lnTo>
                    <a:pt x="4851" y="1524292"/>
                  </a:lnTo>
                  <a:lnTo>
                    <a:pt x="4953" y="1524584"/>
                  </a:lnTo>
                  <a:lnTo>
                    <a:pt x="33007" y="1558785"/>
                  </a:lnTo>
                  <a:lnTo>
                    <a:pt x="75349" y="1571625"/>
                  </a:lnTo>
                  <a:lnTo>
                    <a:pt x="3166211" y="1571625"/>
                  </a:lnTo>
                  <a:lnTo>
                    <a:pt x="3215424" y="1561833"/>
                  </a:lnTo>
                  <a:lnTo>
                    <a:pt x="3257131" y="1533956"/>
                  </a:lnTo>
                  <a:lnTo>
                    <a:pt x="3285007" y="1492237"/>
                  </a:lnTo>
                  <a:lnTo>
                    <a:pt x="3294799" y="1443037"/>
                  </a:lnTo>
                  <a:lnTo>
                    <a:pt x="3294799" y="128587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48124" y="3829050"/>
              <a:ext cx="76199" cy="157162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769225" y="4002088"/>
            <a:ext cx="2840355" cy="75597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משתנים נסתרים</a:t>
            </a:r>
            <a:r>
              <a:rPr lang="he-IL" sz="1600" dirty="0"/>
              <a:t>: מורל, לחץ ותחושת הקהל אינם נמדדים ישירות אך משפיעים מאוד.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892300"/>
            <a:ext cx="75933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he-IL" sz="2800" dirty="0"/>
              <a:t>מומנטום: מושג מופשט ומשתנה</a:t>
            </a:r>
            <a:endParaRPr sz="2700" dirty="0"/>
          </a:p>
        </p:txBody>
      </p:sp>
      <p:grpSp>
        <p:nvGrpSpPr>
          <p:cNvPr id="3" name="object 3"/>
          <p:cNvGrpSpPr/>
          <p:nvPr/>
        </p:nvGrpSpPr>
        <p:grpSpPr>
          <a:xfrm>
            <a:off x="600075" y="2686049"/>
            <a:ext cx="3295650" cy="1838325"/>
            <a:chOff x="600075" y="2686049"/>
            <a:chExt cx="3295650" cy="1838325"/>
          </a:xfrm>
        </p:grpSpPr>
        <p:sp>
          <p:nvSpPr>
            <p:cNvPr id="4" name="object 4"/>
            <p:cNvSpPr/>
            <p:nvPr/>
          </p:nvSpPr>
          <p:spPr>
            <a:xfrm>
              <a:off x="604837" y="2690812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162299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9" y="45310"/>
                  </a:lnTo>
                  <a:lnTo>
                    <a:pt x="5301" y="87933"/>
                  </a:lnTo>
                  <a:lnTo>
                    <a:pt x="0" y="123824"/>
                  </a:lnTo>
                  <a:lnTo>
                    <a:pt x="0" y="1704974"/>
                  </a:lnTo>
                  <a:lnTo>
                    <a:pt x="9425" y="1752358"/>
                  </a:lnTo>
                  <a:lnTo>
                    <a:pt x="36269" y="1792528"/>
                  </a:lnTo>
                  <a:lnTo>
                    <a:pt x="76438" y="1819376"/>
                  </a:lnTo>
                  <a:lnTo>
                    <a:pt x="123824" y="1828799"/>
                  </a:lnTo>
                  <a:lnTo>
                    <a:pt x="3162299" y="1828799"/>
                  </a:lnTo>
                  <a:lnTo>
                    <a:pt x="3209683" y="1819376"/>
                  </a:lnTo>
                  <a:lnTo>
                    <a:pt x="3249853" y="1792528"/>
                  </a:lnTo>
                  <a:lnTo>
                    <a:pt x="3276701" y="1752358"/>
                  </a:lnTo>
                  <a:lnTo>
                    <a:pt x="3286124" y="1704974"/>
                  </a:lnTo>
                  <a:lnTo>
                    <a:pt x="3286124" y="123824"/>
                  </a:lnTo>
                  <a:lnTo>
                    <a:pt x="3276701" y="76441"/>
                  </a:lnTo>
                  <a:lnTo>
                    <a:pt x="3249853" y="36271"/>
                  </a:lnTo>
                  <a:lnTo>
                    <a:pt x="3209683" y="9423"/>
                  </a:lnTo>
                  <a:lnTo>
                    <a:pt x="316229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" y="2695575"/>
              <a:ext cx="3276599" cy="181927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4837" y="2690812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0" y="17049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3162300" y="0"/>
                  </a:lnTo>
                  <a:lnTo>
                    <a:pt x="3170428" y="0"/>
                  </a:lnTo>
                  <a:lnTo>
                    <a:pt x="3178479" y="800"/>
                  </a:lnTo>
                  <a:lnTo>
                    <a:pt x="3186455" y="2374"/>
                  </a:lnTo>
                  <a:lnTo>
                    <a:pt x="3194431" y="3962"/>
                  </a:lnTo>
                  <a:lnTo>
                    <a:pt x="3202178" y="6311"/>
                  </a:lnTo>
                  <a:lnTo>
                    <a:pt x="3209683" y="9423"/>
                  </a:lnTo>
                  <a:lnTo>
                    <a:pt x="3217202" y="12534"/>
                  </a:lnTo>
                  <a:lnTo>
                    <a:pt x="3249853" y="36271"/>
                  </a:lnTo>
                  <a:lnTo>
                    <a:pt x="3255606" y="42011"/>
                  </a:lnTo>
                  <a:lnTo>
                    <a:pt x="3260737" y="48272"/>
                  </a:lnTo>
                  <a:lnTo>
                    <a:pt x="3265258" y="55029"/>
                  </a:lnTo>
                  <a:lnTo>
                    <a:pt x="3269780" y="61785"/>
                  </a:lnTo>
                  <a:lnTo>
                    <a:pt x="3273590" y="68922"/>
                  </a:lnTo>
                  <a:lnTo>
                    <a:pt x="3276701" y="76441"/>
                  </a:lnTo>
                  <a:lnTo>
                    <a:pt x="3279813" y="83947"/>
                  </a:lnTo>
                  <a:lnTo>
                    <a:pt x="3282162" y="91694"/>
                  </a:lnTo>
                  <a:lnTo>
                    <a:pt x="3283750" y="99669"/>
                  </a:lnTo>
                  <a:lnTo>
                    <a:pt x="3285337" y="107645"/>
                  </a:lnTo>
                  <a:lnTo>
                    <a:pt x="3286125" y="115697"/>
                  </a:lnTo>
                  <a:lnTo>
                    <a:pt x="3286125" y="123825"/>
                  </a:lnTo>
                  <a:lnTo>
                    <a:pt x="3286125" y="1704975"/>
                  </a:lnTo>
                  <a:lnTo>
                    <a:pt x="3286125" y="1713103"/>
                  </a:lnTo>
                  <a:lnTo>
                    <a:pt x="3285337" y="1721154"/>
                  </a:lnTo>
                  <a:lnTo>
                    <a:pt x="3283750" y="1729130"/>
                  </a:lnTo>
                  <a:lnTo>
                    <a:pt x="3282162" y="1737106"/>
                  </a:lnTo>
                  <a:lnTo>
                    <a:pt x="3279813" y="1744853"/>
                  </a:lnTo>
                  <a:lnTo>
                    <a:pt x="3276701" y="1752358"/>
                  </a:lnTo>
                  <a:lnTo>
                    <a:pt x="3273590" y="1759864"/>
                  </a:lnTo>
                  <a:lnTo>
                    <a:pt x="3249853" y="1792528"/>
                  </a:lnTo>
                  <a:lnTo>
                    <a:pt x="3217202" y="1816265"/>
                  </a:lnTo>
                  <a:lnTo>
                    <a:pt x="3209683" y="1819376"/>
                  </a:lnTo>
                  <a:lnTo>
                    <a:pt x="3202178" y="1822488"/>
                  </a:lnTo>
                  <a:lnTo>
                    <a:pt x="3194431" y="1824837"/>
                  </a:lnTo>
                  <a:lnTo>
                    <a:pt x="3186455" y="1826425"/>
                  </a:lnTo>
                  <a:lnTo>
                    <a:pt x="3178479" y="1828012"/>
                  </a:lnTo>
                  <a:lnTo>
                    <a:pt x="3170428" y="1828800"/>
                  </a:lnTo>
                  <a:lnTo>
                    <a:pt x="3162300" y="1828800"/>
                  </a:lnTo>
                  <a:lnTo>
                    <a:pt x="123825" y="1828800"/>
                  </a:lnTo>
                  <a:lnTo>
                    <a:pt x="115694" y="1828800"/>
                  </a:lnTo>
                  <a:lnTo>
                    <a:pt x="107642" y="1828012"/>
                  </a:lnTo>
                  <a:lnTo>
                    <a:pt x="99669" y="1826425"/>
                  </a:lnTo>
                  <a:lnTo>
                    <a:pt x="91692" y="1824837"/>
                  </a:lnTo>
                  <a:lnTo>
                    <a:pt x="83949" y="1822488"/>
                  </a:lnTo>
                  <a:lnTo>
                    <a:pt x="76438" y="1819376"/>
                  </a:lnTo>
                  <a:lnTo>
                    <a:pt x="68926" y="1816265"/>
                  </a:lnTo>
                  <a:lnTo>
                    <a:pt x="61793" y="1812455"/>
                  </a:lnTo>
                  <a:lnTo>
                    <a:pt x="55031" y="1807933"/>
                  </a:lnTo>
                  <a:lnTo>
                    <a:pt x="48270" y="1803412"/>
                  </a:lnTo>
                  <a:lnTo>
                    <a:pt x="42014" y="1798281"/>
                  </a:lnTo>
                  <a:lnTo>
                    <a:pt x="36269" y="1792528"/>
                  </a:lnTo>
                  <a:lnTo>
                    <a:pt x="30519" y="1786775"/>
                  </a:lnTo>
                  <a:lnTo>
                    <a:pt x="9425" y="1752358"/>
                  </a:lnTo>
                  <a:lnTo>
                    <a:pt x="6315" y="1744853"/>
                  </a:lnTo>
                  <a:lnTo>
                    <a:pt x="3963" y="1737106"/>
                  </a:lnTo>
                  <a:lnTo>
                    <a:pt x="2381" y="1729130"/>
                  </a:lnTo>
                  <a:lnTo>
                    <a:pt x="793" y="1721154"/>
                  </a:lnTo>
                  <a:lnTo>
                    <a:pt x="0" y="1713103"/>
                  </a:lnTo>
                  <a:lnTo>
                    <a:pt x="0" y="17049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68350" y="2849562"/>
            <a:ext cx="2854960" cy="100219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הפתרון</a:t>
            </a:r>
            <a:br>
              <a:rPr lang="he-IL" sz="1600" dirty="0"/>
            </a:br>
            <a:r>
              <a:rPr lang="he-IL" sz="1600" dirty="0"/>
              <a:t>יצירת מדדים מדידים למומנטום באמצעות נתונים. שילוב של נקודות, הגנה, עייפות וביצועים ארוכי טווח.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67175" y="2686049"/>
            <a:ext cx="3295650" cy="1838325"/>
            <a:chOff x="4067175" y="2686049"/>
            <a:chExt cx="3295650" cy="1838325"/>
          </a:xfrm>
        </p:grpSpPr>
        <p:sp>
          <p:nvSpPr>
            <p:cNvPr id="9" name="object 9"/>
            <p:cNvSpPr/>
            <p:nvPr/>
          </p:nvSpPr>
          <p:spPr>
            <a:xfrm>
              <a:off x="4071937" y="2690812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162299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7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1704974"/>
                  </a:lnTo>
                  <a:lnTo>
                    <a:pt x="9423" y="1752358"/>
                  </a:lnTo>
                  <a:lnTo>
                    <a:pt x="36271" y="1792528"/>
                  </a:lnTo>
                  <a:lnTo>
                    <a:pt x="76441" y="1819376"/>
                  </a:lnTo>
                  <a:lnTo>
                    <a:pt x="123824" y="1828799"/>
                  </a:lnTo>
                  <a:lnTo>
                    <a:pt x="3162299" y="1828799"/>
                  </a:lnTo>
                  <a:lnTo>
                    <a:pt x="3209683" y="1819376"/>
                  </a:lnTo>
                  <a:lnTo>
                    <a:pt x="3249853" y="1792528"/>
                  </a:lnTo>
                  <a:lnTo>
                    <a:pt x="3276701" y="1752358"/>
                  </a:lnTo>
                  <a:lnTo>
                    <a:pt x="3286124" y="1704974"/>
                  </a:lnTo>
                  <a:lnTo>
                    <a:pt x="3286124" y="123824"/>
                  </a:lnTo>
                  <a:lnTo>
                    <a:pt x="3276701" y="76441"/>
                  </a:lnTo>
                  <a:lnTo>
                    <a:pt x="3249853" y="36271"/>
                  </a:lnTo>
                  <a:lnTo>
                    <a:pt x="3209683" y="9423"/>
                  </a:lnTo>
                  <a:lnTo>
                    <a:pt x="316229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699" y="2695575"/>
              <a:ext cx="3276599" cy="181927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71937" y="2690812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0" y="17049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71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3162300" y="0"/>
                  </a:lnTo>
                  <a:lnTo>
                    <a:pt x="3170428" y="0"/>
                  </a:lnTo>
                  <a:lnTo>
                    <a:pt x="3178479" y="800"/>
                  </a:lnTo>
                  <a:lnTo>
                    <a:pt x="3217202" y="12534"/>
                  </a:lnTo>
                  <a:lnTo>
                    <a:pt x="3249853" y="36271"/>
                  </a:lnTo>
                  <a:lnTo>
                    <a:pt x="3255606" y="42011"/>
                  </a:lnTo>
                  <a:lnTo>
                    <a:pt x="3260737" y="48272"/>
                  </a:lnTo>
                  <a:lnTo>
                    <a:pt x="3265258" y="55029"/>
                  </a:lnTo>
                  <a:lnTo>
                    <a:pt x="3269780" y="61785"/>
                  </a:lnTo>
                  <a:lnTo>
                    <a:pt x="3273590" y="68922"/>
                  </a:lnTo>
                  <a:lnTo>
                    <a:pt x="3276701" y="76441"/>
                  </a:lnTo>
                  <a:lnTo>
                    <a:pt x="3279813" y="83947"/>
                  </a:lnTo>
                  <a:lnTo>
                    <a:pt x="3282162" y="91694"/>
                  </a:lnTo>
                  <a:lnTo>
                    <a:pt x="3283750" y="99669"/>
                  </a:lnTo>
                  <a:lnTo>
                    <a:pt x="3285337" y="107645"/>
                  </a:lnTo>
                  <a:lnTo>
                    <a:pt x="3286125" y="115697"/>
                  </a:lnTo>
                  <a:lnTo>
                    <a:pt x="3286125" y="123825"/>
                  </a:lnTo>
                  <a:lnTo>
                    <a:pt x="3286125" y="1704975"/>
                  </a:lnTo>
                  <a:lnTo>
                    <a:pt x="3286125" y="1713103"/>
                  </a:lnTo>
                  <a:lnTo>
                    <a:pt x="3285337" y="1721154"/>
                  </a:lnTo>
                  <a:lnTo>
                    <a:pt x="3283750" y="1729130"/>
                  </a:lnTo>
                  <a:lnTo>
                    <a:pt x="3282162" y="1737106"/>
                  </a:lnTo>
                  <a:lnTo>
                    <a:pt x="3279813" y="1744853"/>
                  </a:lnTo>
                  <a:lnTo>
                    <a:pt x="3276701" y="1752358"/>
                  </a:lnTo>
                  <a:lnTo>
                    <a:pt x="3273590" y="1759864"/>
                  </a:lnTo>
                  <a:lnTo>
                    <a:pt x="3249853" y="1792528"/>
                  </a:lnTo>
                  <a:lnTo>
                    <a:pt x="3244100" y="1798281"/>
                  </a:lnTo>
                  <a:lnTo>
                    <a:pt x="3209683" y="1819376"/>
                  </a:lnTo>
                  <a:lnTo>
                    <a:pt x="3186455" y="1826425"/>
                  </a:lnTo>
                  <a:lnTo>
                    <a:pt x="3178479" y="1828012"/>
                  </a:lnTo>
                  <a:lnTo>
                    <a:pt x="3170428" y="1828800"/>
                  </a:lnTo>
                  <a:lnTo>
                    <a:pt x="3162300" y="1828800"/>
                  </a:lnTo>
                  <a:lnTo>
                    <a:pt x="123825" y="1828800"/>
                  </a:lnTo>
                  <a:lnTo>
                    <a:pt x="115697" y="1828800"/>
                  </a:lnTo>
                  <a:lnTo>
                    <a:pt x="107645" y="1828012"/>
                  </a:lnTo>
                  <a:lnTo>
                    <a:pt x="99669" y="1826425"/>
                  </a:lnTo>
                  <a:lnTo>
                    <a:pt x="91694" y="1824837"/>
                  </a:lnTo>
                  <a:lnTo>
                    <a:pt x="83947" y="1822488"/>
                  </a:lnTo>
                  <a:lnTo>
                    <a:pt x="76441" y="1819376"/>
                  </a:lnTo>
                  <a:lnTo>
                    <a:pt x="68922" y="1816265"/>
                  </a:lnTo>
                  <a:lnTo>
                    <a:pt x="36271" y="1792528"/>
                  </a:lnTo>
                  <a:lnTo>
                    <a:pt x="30518" y="1786775"/>
                  </a:lnTo>
                  <a:lnTo>
                    <a:pt x="9423" y="1752358"/>
                  </a:lnTo>
                  <a:lnTo>
                    <a:pt x="6311" y="1744853"/>
                  </a:lnTo>
                  <a:lnTo>
                    <a:pt x="3962" y="1737106"/>
                  </a:lnTo>
                  <a:lnTo>
                    <a:pt x="2387" y="1729130"/>
                  </a:lnTo>
                  <a:lnTo>
                    <a:pt x="800" y="1721154"/>
                  </a:lnTo>
                  <a:lnTo>
                    <a:pt x="0" y="1713103"/>
                  </a:lnTo>
                  <a:lnTo>
                    <a:pt x="0" y="17049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235450" y="2849562"/>
            <a:ext cx="2844165" cy="12484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האתגר</a:t>
            </a:r>
            <a:br>
              <a:rPr lang="he-IL" sz="1600" dirty="0"/>
            </a:br>
            <a:r>
              <a:rPr lang="he-IL" sz="1600" dirty="0"/>
              <a:t>המומנטום הוא מושג מופשט שקשה למדוד. הוא משתנה באופן דינמי במהלך המשחק ותלוי בגורמים נסתרים.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34275" y="2686049"/>
            <a:ext cx="3295650" cy="1838325"/>
            <a:chOff x="7534275" y="2686049"/>
            <a:chExt cx="3295650" cy="1838325"/>
          </a:xfrm>
        </p:grpSpPr>
        <p:sp>
          <p:nvSpPr>
            <p:cNvPr id="14" name="object 14"/>
            <p:cNvSpPr/>
            <p:nvPr/>
          </p:nvSpPr>
          <p:spPr>
            <a:xfrm>
              <a:off x="7539036" y="2690812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162299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7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1704974"/>
                  </a:lnTo>
                  <a:lnTo>
                    <a:pt x="9423" y="1752358"/>
                  </a:lnTo>
                  <a:lnTo>
                    <a:pt x="36271" y="1792528"/>
                  </a:lnTo>
                  <a:lnTo>
                    <a:pt x="76441" y="1819376"/>
                  </a:lnTo>
                  <a:lnTo>
                    <a:pt x="123824" y="1828799"/>
                  </a:lnTo>
                  <a:lnTo>
                    <a:pt x="3162299" y="1828799"/>
                  </a:lnTo>
                  <a:lnTo>
                    <a:pt x="3209683" y="1819376"/>
                  </a:lnTo>
                  <a:lnTo>
                    <a:pt x="3249853" y="1792528"/>
                  </a:lnTo>
                  <a:lnTo>
                    <a:pt x="3276701" y="1752358"/>
                  </a:lnTo>
                  <a:lnTo>
                    <a:pt x="3286124" y="1704974"/>
                  </a:lnTo>
                  <a:lnTo>
                    <a:pt x="3286124" y="123824"/>
                  </a:lnTo>
                  <a:lnTo>
                    <a:pt x="3276701" y="76441"/>
                  </a:lnTo>
                  <a:lnTo>
                    <a:pt x="3249853" y="36271"/>
                  </a:lnTo>
                  <a:lnTo>
                    <a:pt x="3209683" y="9423"/>
                  </a:lnTo>
                  <a:lnTo>
                    <a:pt x="316229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3799" y="2695575"/>
              <a:ext cx="3276599" cy="18192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539037" y="2690812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0" y="17049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58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3162300" y="0"/>
                  </a:lnTo>
                  <a:lnTo>
                    <a:pt x="3170428" y="0"/>
                  </a:lnTo>
                  <a:lnTo>
                    <a:pt x="3178479" y="800"/>
                  </a:lnTo>
                  <a:lnTo>
                    <a:pt x="3186455" y="2374"/>
                  </a:lnTo>
                  <a:lnTo>
                    <a:pt x="3194431" y="3962"/>
                  </a:lnTo>
                  <a:lnTo>
                    <a:pt x="3202178" y="6311"/>
                  </a:lnTo>
                  <a:lnTo>
                    <a:pt x="3209683" y="9423"/>
                  </a:lnTo>
                  <a:lnTo>
                    <a:pt x="3217202" y="12534"/>
                  </a:lnTo>
                  <a:lnTo>
                    <a:pt x="3249853" y="36271"/>
                  </a:lnTo>
                  <a:lnTo>
                    <a:pt x="3255606" y="42011"/>
                  </a:lnTo>
                  <a:lnTo>
                    <a:pt x="3276701" y="76441"/>
                  </a:lnTo>
                  <a:lnTo>
                    <a:pt x="3279813" y="83947"/>
                  </a:lnTo>
                  <a:lnTo>
                    <a:pt x="3282162" y="91694"/>
                  </a:lnTo>
                  <a:lnTo>
                    <a:pt x="3283750" y="99669"/>
                  </a:lnTo>
                  <a:lnTo>
                    <a:pt x="3285337" y="107645"/>
                  </a:lnTo>
                  <a:lnTo>
                    <a:pt x="3286125" y="115697"/>
                  </a:lnTo>
                  <a:lnTo>
                    <a:pt x="3286125" y="123825"/>
                  </a:lnTo>
                  <a:lnTo>
                    <a:pt x="3286125" y="1704975"/>
                  </a:lnTo>
                  <a:lnTo>
                    <a:pt x="3286125" y="1713103"/>
                  </a:lnTo>
                  <a:lnTo>
                    <a:pt x="3285337" y="1721154"/>
                  </a:lnTo>
                  <a:lnTo>
                    <a:pt x="3283750" y="1729130"/>
                  </a:lnTo>
                  <a:lnTo>
                    <a:pt x="3282162" y="1737106"/>
                  </a:lnTo>
                  <a:lnTo>
                    <a:pt x="3279813" y="1744853"/>
                  </a:lnTo>
                  <a:lnTo>
                    <a:pt x="3276701" y="1752358"/>
                  </a:lnTo>
                  <a:lnTo>
                    <a:pt x="3273590" y="1759864"/>
                  </a:lnTo>
                  <a:lnTo>
                    <a:pt x="3249853" y="1792528"/>
                  </a:lnTo>
                  <a:lnTo>
                    <a:pt x="3217202" y="1816265"/>
                  </a:lnTo>
                  <a:lnTo>
                    <a:pt x="3209683" y="1819376"/>
                  </a:lnTo>
                  <a:lnTo>
                    <a:pt x="3202178" y="1822488"/>
                  </a:lnTo>
                  <a:lnTo>
                    <a:pt x="3194431" y="1824837"/>
                  </a:lnTo>
                  <a:lnTo>
                    <a:pt x="3186455" y="1826425"/>
                  </a:lnTo>
                  <a:lnTo>
                    <a:pt x="3178479" y="1828012"/>
                  </a:lnTo>
                  <a:lnTo>
                    <a:pt x="3170428" y="1828800"/>
                  </a:lnTo>
                  <a:lnTo>
                    <a:pt x="3162300" y="1828800"/>
                  </a:lnTo>
                  <a:lnTo>
                    <a:pt x="123825" y="1828800"/>
                  </a:lnTo>
                  <a:lnTo>
                    <a:pt x="115697" y="1828800"/>
                  </a:lnTo>
                  <a:lnTo>
                    <a:pt x="107645" y="1828012"/>
                  </a:lnTo>
                  <a:lnTo>
                    <a:pt x="99669" y="1826425"/>
                  </a:lnTo>
                  <a:lnTo>
                    <a:pt x="91694" y="1824837"/>
                  </a:lnTo>
                  <a:lnTo>
                    <a:pt x="83947" y="1822488"/>
                  </a:lnTo>
                  <a:lnTo>
                    <a:pt x="76441" y="1819376"/>
                  </a:lnTo>
                  <a:lnTo>
                    <a:pt x="68922" y="1816265"/>
                  </a:lnTo>
                  <a:lnTo>
                    <a:pt x="61785" y="1812455"/>
                  </a:lnTo>
                  <a:lnTo>
                    <a:pt x="55029" y="1807933"/>
                  </a:lnTo>
                  <a:lnTo>
                    <a:pt x="48272" y="1803412"/>
                  </a:lnTo>
                  <a:lnTo>
                    <a:pt x="20866" y="1773770"/>
                  </a:lnTo>
                  <a:lnTo>
                    <a:pt x="9423" y="1752358"/>
                  </a:lnTo>
                  <a:lnTo>
                    <a:pt x="6311" y="1744853"/>
                  </a:lnTo>
                  <a:lnTo>
                    <a:pt x="3962" y="1737106"/>
                  </a:lnTo>
                  <a:lnTo>
                    <a:pt x="2387" y="1729130"/>
                  </a:lnTo>
                  <a:lnTo>
                    <a:pt x="800" y="1721154"/>
                  </a:lnTo>
                  <a:lnTo>
                    <a:pt x="0" y="1713103"/>
                  </a:lnTo>
                  <a:lnTo>
                    <a:pt x="0" y="17049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02550" y="2849562"/>
            <a:ext cx="2822575" cy="100219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b="1" dirty="0"/>
              <a:t>הגדרה</a:t>
            </a:r>
            <a:br>
              <a:rPr lang="he-IL" sz="1600" dirty="0"/>
            </a:br>
            <a:r>
              <a:rPr lang="he-IL" sz="1600" dirty="0"/>
              <a:t>מומנטום הוא מצב פסיכולוגי וסטטיסטי שמתאר את הזרימה וכיוון הביצועים של קבוצה בפרק זמן קצר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81600" y="3036483"/>
            <a:ext cx="59080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he-IL" sz="2800" dirty="0"/>
              <a:t>גישה: פתרון המורכבות</a:t>
            </a:r>
            <a:endParaRPr sz="2700" dirty="0"/>
          </a:p>
        </p:txBody>
      </p:sp>
      <p:sp>
        <p:nvSpPr>
          <p:cNvPr id="7" name="object 7"/>
          <p:cNvSpPr txBox="1"/>
          <p:nvPr/>
        </p:nvSpPr>
        <p:spPr>
          <a:xfrm>
            <a:off x="676413" y="3840162"/>
            <a:ext cx="4508500" cy="14946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גישה הוליסטית</a:t>
            </a:r>
          </a:p>
          <a:p>
            <a:pPr algn="r"/>
            <a:endParaRPr kumimoji="0" lang="he-IL" altLang="he-I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שילוב מחקר קיים עם מודלים אלגוריתמיים מקוריים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Forest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ו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Gradient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לזיהוי תבניות </a:t>
            </a:r>
          </a:p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he-IL" altLang="he-IL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מורכבות ולא-לינאריות בנתונים.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he-IL" sz="1600" b="1" dirty="0"/>
          </a:p>
        </p:txBody>
      </p:sp>
      <p:sp>
        <p:nvSpPr>
          <p:cNvPr id="11" name="object 11"/>
          <p:cNvSpPr txBox="1"/>
          <p:nvPr/>
        </p:nvSpPr>
        <p:spPr>
          <a:xfrm>
            <a:off x="6245089" y="3840162"/>
            <a:ext cx="4081145" cy="195675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הנדסת תכונות</a:t>
            </a:r>
            <a:endParaRPr lang="he-IL" sz="1600" dirty="0"/>
          </a:p>
          <a:p>
            <a:pPr marL="286385" marR="5080" algn="r" rtl="0">
              <a:lnSpc>
                <a:spcPct val="162000"/>
              </a:lnSpc>
              <a:spcBef>
                <a:spcPts val="690"/>
              </a:spcBef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יצירת מדדים חדשים: רצף עם משקל זמן.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6385" marR="5080" algn="r" rtl="0">
              <a:lnSpc>
                <a:spcPct val="162000"/>
              </a:lnSpc>
              <a:spcBef>
                <a:spcPts val="690"/>
              </a:spcBef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התאמת קצב המשחק וביצועים יחסיים.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6385" marR="5080" algn="r">
              <a:lnSpc>
                <a:spcPct val="162000"/>
              </a:lnSpc>
              <a:spcBef>
                <a:spcPts val="690"/>
              </a:spcBef>
            </a:pPr>
            <a:r>
              <a:rPr lang="he-IL" sz="1400" dirty="0"/>
              <a:t>שילוב הקשר זמני מתוך המשחק.</a:t>
            </a:r>
          </a:p>
          <a:p>
            <a:pPr marL="286385" marR="5080" algn="r">
              <a:lnSpc>
                <a:spcPct val="162000"/>
              </a:lnSpc>
              <a:spcBef>
                <a:spcPts val="690"/>
              </a:spcBef>
            </a:pPr>
            <a:endParaRPr sz="1200" dirty="0">
              <a:latin typeface="Verdana"/>
              <a:cs typeface="Verdana"/>
            </a:endParaRP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80CEBCAC-E18E-9572-60A3-629DC6A1F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20039"/>
            <a:ext cx="250902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altLang="he-I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התאמת קצב המשחק וביצועים יחסיים</a:t>
            </a:r>
            <a:r>
              <a:rPr kumimoji="0" lang="he-IL" altLang="he-IL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e-IL" altLang="he-IL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3914" y="479408"/>
            <a:ext cx="516890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r"/>
            <a:r>
              <a:rPr lang="he-IL" sz="2400" b="1" dirty="0"/>
              <a:t>הליבה: מודל למידת המכונה</a:t>
            </a:r>
            <a:endParaRPr lang="he-IL" sz="2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896600" y="1042637"/>
            <a:ext cx="448309" cy="887730"/>
            <a:chOff x="507732" y="1060697"/>
            <a:chExt cx="448309" cy="887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306" y="1065272"/>
              <a:ext cx="439119" cy="8782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12306" y="1065272"/>
              <a:ext cx="439420" cy="878840"/>
            </a:xfrm>
            <a:custGeom>
              <a:avLst/>
              <a:gdLst/>
              <a:ahLst/>
              <a:cxnLst/>
              <a:rect l="l" t="t" r="r" b="b"/>
              <a:pathLst>
                <a:path w="439419" h="878839">
                  <a:moveTo>
                    <a:pt x="73186" y="0"/>
                  </a:moveTo>
                  <a:lnTo>
                    <a:pt x="365933" y="0"/>
                  </a:lnTo>
                  <a:lnTo>
                    <a:pt x="365933" y="658679"/>
                  </a:lnTo>
                  <a:lnTo>
                    <a:pt x="439119" y="658679"/>
                  </a:lnTo>
                  <a:lnTo>
                    <a:pt x="219559" y="878239"/>
                  </a:lnTo>
                  <a:lnTo>
                    <a:pt x="0" y="658679"/>
                  </a:lnTo>
                  <a:lnTo>
                    <a:pt x="73186" y="658679"/>
                  </a:lnTo>
                  <a:lnTo>
                    <a:pt x="73186" y="0"/>
                  </a:lnTo>
                  <a:close/>
                </a:path>
              </a:pathLst>
            </a:custGeom>
            <a:ln w="9148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222605" y="1095168"/>
            <a:ext cx="3410701" cy="688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r"/>
            <a:r>
              <a:rPr lang="he-IL" sz="1600" b="1" dirty="0"/>
              <a:t>איסוף נתונים</a:t>
            </a:r>
          </a:p>
          <a:p>
            <a:pPr algn="r"/>
            <a:r>
              <a:rPr lang="he-IL" sz="1400" dirty="0"/>
              <a:t>חילוץ נתוני מהלך אחר מהלך באמצעות </a:t>
            </a:r>
            <a:br>
              <a:rPr lang="en-US" sz="1400" dirty="0"/>
            </a:br>
            <a:r>
              <a:rPr lang="en-US" sz="1400" dirty="0"/>
              <a:t>    NBA-API   </a:t>
            </a:r>
            <a:endParaRPr lang="he-IL" sz="1400" dirty="0"/>
          </a:p>
        </p:txBody>
      </p:sp>
      <p:grpSp>
        <p:nvGrpSpPr>
          <p:cNvPr id="7" name="object 7"/>
          <p:cNvGrpSpPr/>
          <p:nvPr/>
        </p:nvGrpSpPr>
        <p:grpSpPr>
          <a:xfrm>
            <a:off x="10537956" y="2041057"/>
            <a:ext cx="448309" cy="887730"/>
            <a:chOff x="727292" y="2085310"/>
            <a:chExt cx="448309" cy="8877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866" y="2089885"/>
              <a:ext cx="439119" cy="87823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31866" y="2089885"/>
              <a:ext cx="439420" cy="878840"/>
            </a:xfrm>
            <a:custGeom>
              <a:avLst/>
              <a:gdLst/>
              <a:ahLst/>
              <a:cxnLst/>
              <a:rect l="l" t="t" r="r" b="b"/>
              <a:pathLst>
                <a:path w="439419" h="878839">
                  <a:moveTo>
                    <a:pt x="73186" y="0"/>
                  </a:moveTo>
                  <a:lnTo>
                    <a:pt x="365933" y="0"/>
                  </a:lnTo>
                  <a:lnTo>
                    <a:pt x="365933" y="658679"/>
                  </a:lnTo>
                  <a:lnTo>
                    <a:pt x="439119" y="658679"/>
                  </a:lnTo>
                  <a:lnTo>
                    <a:pt x="219559" y="878239"/>
                  </a:lnTo>
                  <a:lnTo>
                    <a:pt x="0" y="658679"/>
                  </a:lnTo>
                  <a:lnTo>
                    <a:pt x="73186" y="658679"/>
                  </a:lnTo>
                  <a:lnTo>
                    <a:pt x="73186" y="0"/>
                  </a:lnTo>
                  <a:close/>
                </a:path>
              </a:pathLst>
            </a:custGeom>
            <a:ln w="9148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629400" y="2109873"/>
            <a:ext cx="3788410" cy="5886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r"/>
            <a:r>
              <a:rPr lang="he-IL" sz="1600" b="1" dirty="0"/>
              <a:t>ניקוי וזיהוי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865"/>
              </a:spcBef>
            </a:pPr>
            <a:r>
              <a:rPr lang="he-IL" sz="1400" dirty="0"/>
              <a:t>זיהוי הפסקות, טיפול בערכים חסרים ובחריגים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08364" y="3222625"/>
            <a:ext cx="4586605" cy="5886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r"/>
            <a:r>
              <a:rPr lang="he-IL" sz="1600" b="1" dirty="0"/>
              <a:t>הנדסת תכונות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865"/>
              </a:spcBef>
            </a:pPr>
            <a:r>
              <a:rPr lang="he-IL" sz="1400" dirty="0"/>
              <a:t>יצירת מדדי מומנטום ומדדי ביצועים מתקדמים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01682" y="4170999"/>
            <a:ext cx="3664585" cy="8040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r"/>
            <a:r>
              <a:rPr lang="he-IL" sz="1600" b="1" dirty="0"/>
              <a:t>אימון מודל</a:t>
            </a:r>
            <a:endParaRPr lang="he-IL" sz="1600" dirty="0"/>
          </a:p>
          <a:p>
            <a:pPr marL="12700" algn="l">
              <a:lnSpc>
                <a:spcPct val="100000"/>
              </a:lnSpc>
              <a:spcBef>
                <a:spcPts val="865"/>
              </a:spcBef>
            </a:pPr>
            <a:r>
              <a:rPr sz="1400" spc="-50" dirty="0">
                <a:solidFill>
                  <a:srgbClr val="3D3E43"/>
                </a:solidFill>
                <a:latin typeface="Verdana"/>
                <a:cs typeface="Verdana"/>
              </a:rPr>
              <a:t>Testing</a:t>
            </a:r>
            <a:r>
              <a:rPr sz="1400" spc="-4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3D3E43"/>
                </a:solidFill>
                <a:latin typeface="Verdana"/>
                <a:cs typeface="Verdana"/>
              </a:rPr>
              <a:t>Logistic</a:t>
            </a:r>
            <a:r>
              <a:rPr sz="1400" spc="-50" dirty="0">
                <a:solidFill>
                  <a:srgbClr val="3D3E43"/>
                </a:solidFill>
                <a:latin typeface="Verdana"/>
                <a:cs typeface="Verdana"/>
              </a:rPr>
              <a:t> Regression, </a:t>
            </a:r>
            <a:r>
              <a:rPr sz="1400" spc="-65" dirty="0">
                <a:solidFill>
                  <a:srgbClr val="3D3E43"/>
                </a:solidFill>
                <a:latin typeface="Verdana"/>
                <a:cs typeface="Verdana"/>
              </a:rPr>
              <a:t>Random</a:t>
            </a:r>
            <a:r>
              <a:rPr sz="1400" spc="-4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3D3E43"/>
                </a:solidFill>
                <a:latin typeface="Verdana"/>
                <a:cs typeface="Verdana"/>
              </a:rPr>
              <a:t>Forest,</a:t>
            </a:r>
            <a:r>
              <a:rPr sz="1400" spc="-5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3D3E43"/>
                </a:solidFill>
                <a:latin typeface="Verdana"/>
                <a:cs typeface="Verdana"/>
              </a:rPr>
              <a:t>XGBoost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15001" y="5151537"/>
            <a:ext cx="3375728" cy="5886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r"/>
            <a:r>
              <a:rPr lang="he-IL" sz="1600" b="1" dirty="0"/>
              <a:t>הערכה ואופטימיזציה</a:t>
            </a:r>
            <a:endParaRPr lang="he-IL" sz="1600" dirty="0"/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400" spc="-35" dirty="0">
                <a:solidFill>
                  <a:srgbClr val="3D3E43"/>
                </a:solidFill>
                <a:latin typeface="Verdana"/>
                <a:cs typeface="Verdana"/>
              </a:rPr>
              <a:t>Measuring</a:t>
            </a:r>
            <a:r>
              <a:rPr sz="1400" spc="-5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3D3E43"/>
                </a:solidFill>
                <a:latin typeface="Verdana"/>
                <a:cs typeface="Verdana"/>
              </a:rPr>
              <a:t>Precision,</a:t>
            </a:r>
            <a:r>
              <a:rPr sz="1400" spc="-5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3D3E43"/>
                </a:solidFill>
                <a:latin typeface="Verdana"/>
                <a:cs typeface="Verdana"/>
              </a:rPr>
              <a:t>Recall, </a:t>
            </a:r>
            <a:r>
              <a:rPr sz="1400" spc="-140" dirty="0">
                <a:solidFill>
                  <a:srgbClr val="3D3E43"/>
                </a:solidFill>
                <a:latin typeface="Verdana"/>
                <a:cs typeface="Verdana"/>
              </a:rPr>
              <a:t>F1</a:t>
            </a:r>
            <a:r>
              <a:rPr sz="1400" spc="-50" dirty="0">
                <a:solidFill>
                  <a:srgbClr val="3D3E43"/>
                </a:solidFill>
                <a:latin typeface="Verdana"/>
                <a:cs typeface="Verdana"/>
              </a:rPr>
              <a:t> and </a:t>
            </a:r>
            <a:r>
              <a:rPr sz="1400" spc="-25" dirty="0">
                <a:solidFill>
                  <a:srgbClr val="3D3E43"/>
                </a:solidFill>
                <a:latin typeface="Verdana"/>
                <a:cs typeface="Verdana"/>
              </a:rPr>
              <a:t>AUC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24" name="object 3">
            <a:extLst>
              <a:ext uri="{FF2B5EF4-FFF2-40B4-BE49-F238E27FC236}">
                <a16:creationId xmlns:a16="http://schemas.microsoft.com/office/drawing/2014/main" id="{C1AA7103-F766-F46D-031B-7758046BAAAA}"/>
              </a:ext>
            </a:extLst>
          </p:cNvPr>
          <p:cNvGrpSpPr/>
          <p:nvPr/>
        </p:nvGrpSpPr>
        <p:grpSpPr>
          <a:xfrm>
            <a:off x="10155180" y="3024551"/>
            <a:ext cx="448309" cy="887730"/>
            <a:chOff x="507732" y="1060697"/>
            <a:chExt cx="448309" cy="887730"/>
          </a:xfrm>
        </p:grpSpPr>
        <p:pic>
          <p:nvPicPr>
            <p:cNvPr id="25" name="object 4">
              <a:extLst>
                <a:ext uri="{FF2B5EF4-FFF2-40B4-BE49-F238E27FC236}">
                  <a16:creationId xmlns:a16="http://schemas.microsoft.com/office/drawing/2014/main" id="{B011E075-C257-F1F5-496B-68E91A3D4D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306" y="1065272"/>
              <a:ext cx="439119" cy="878239"/>
            </a:xfrm>
            <a:prstGeom prst="rect">
              <a:avLst/>
            </a:prstGeom>
          </p:spPr>
        </p:pic>
        <p:sp>
          <p:nvSpPr>
            <p:cNvPr id="26" name="object 5">
              <a:extLst>
                <a:ext uri="{FF2B5EF4-FFF2-40B4-BE49-F238E27FC236}">
                  <a16:creationId xmlns:a16="http://schemas.microsoft.com/office/drawing/2014/main" id="{F681B970-A787-EF5A-811E-F2649D8721B0}"/>
                </a:ext>
              </a:extLst>
            </p:cNvPr>
            <p:cNvSpPr/>
            <p:nvPr/>
          </p:nvSpPr>
          <p:spPr>
            <a:xfrm>
              <a:off x="512306" y="1065272"/>
              <a:ext cx="439420" cy="878840"/>
            </a:xfrm>
            <a:custGeom>
              <a:avLst/>
              <a:gdLst/>
              <a:ahLst/>
              <a:cxnLst/>
              <a:rect l="l" t="t" r="r" b="b"/>
              <a:pathLst>
                <a:path w="439419" h="878839">
                  <a:moveTo>
                    <a:pt x="73186" y="0"/>
                  </a:moveTo>
                  <a:lnTo>
                    <a:pt x="365933" y="0"/>
                  </a:lnTo>
                  <a:lnTo>
                    <a:pt x="365933" y="658679"/>
                  </a:lnTo>
                  <a:lnTo>
                    <a:pt x="439119" y="658679"/>
                  </a:lnTo>
                  <a:lnTo>
                    <a:pt x="219559" y="878239"/>
                  </a:lnTo>
                  <a:lnTo>
                    <a:pt x="0" y="658679"/>
                  </a:lnTo>
                  <a:lnTo>
                    <a:pt x="73186" y="658679"/>
                  </a:lnTo>
                  <a:lnTo>
                    <a:pt x="73186" y="0"/>
                  </a:lnTo>
                  <a:close/>
                </a:path>
              </a:pathLst>
            </a:custGeom>
            <a:ln w="9148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3">
            <a:extLst>
              <a:ext uri="{FF2B5EF4-FFF2-40B4-BE49-F238E27FC236}">
                <a16:creationId xmlns:a16="http://schemas.microsoft.com/office/drawing/2014/main" id="{D3D50C0B-D0EE-3DC1-76E4-818BE17159F7}"/>
              </a:ext>
            </a:extLst>
          </p:cNvPr>
          <p:cNvGrpSpPr/>
          <p:nvPr/>
        </p:nvGrpSpPr>
        <p:grpSpPr>
          <a:xfrm>
            <a:off x="10159754" y="5113574"/>
            <a:ext cx="448309" cy="887730"/>
            <a:chOff x="507732" y="1060697"/>
            <a:chExt cx="448309" cy="887730"/>
          </a:xfrm>
        </p:grpSpPr>
        <p:pic>
          <p:nvPicPr>
            <p:cNvPr id="28" name="object 4">
              <a:extLst>
                <a:ext uri="{FF2B5EF4-FFF2-40B4-BE49-F238E27FC236}">
                  <a16:creationId xmlns:a16="http://schemas.microsoft.com/office/drawing/2014/main" id="{4D8BC0D8-A586-FDFF-880B-C1F7E06D538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306" y="1065272"/>
              <a:ext cx="439119" cy="878239"/>
            </a:xfrm>
            <a:prstGeom prst="rect">
              <a:avLst/>
            </a:prstGeom>
          </p:spPr>
        </p:pic>
        <p:sp>
          <p:nvSpPr>
            <p:cNvPr id="29" name="object 5">
              <a:extLst>
                <a:ext uri="{FF2B5EF4-FFF2-40B4-BE49-F238E27FC236}">
                  <a16:creationId xmlns:a16="http://schemas.microsoft.com/office/drawing/2014/main" id="{6D582829-3ADA-CCC2-C3BA-E7D0EAC1B22C}"/>
                </a:ext>
              </a:extLst>
            </p:cNvPr>
            <p:cNvSpPr/>
            <p:nvPr/>
          </p:nvSpPr>
          <p:spPr>
            <a:xfrm>
              <a:off x="512306" y="1065272"/>
              <a:ext cx="439420" cy="878840"/>
            </a:xfrm>
            <a:custGeom>
              <a:avLst/>
              <a:gdLst/>
              <a:ahLst/>
              <a:cxnLst/>
              <a:rect l="l" t="t" r="r" b="b"/>
              <a:pathLst>
                <a:path w="439419" h="878839">
                  <a:moveTo>
                    <a:pt x="73186" y="0"/>
                  </a:moveTo>
                  <a:lnTo>
                    <a:pt x="365933" y="0"/>
                  </a:lnTo>
                  <a:lnTo>
                    <a:pt x="365933" y="658679"/>
                  </a:lnTo>
                  <a:lnTo>
                    <a:pt x="439119" y="658679"/>
                  </a:lnTo>
                  <a:lnTo>
                    <a:pt x="219559" y="878239"/>
                  </a:lnTo>
                  <a:lnTo>
                    <a:pt x="0" y="658679"/>
                  </a:lnTo>
                  <a:lnTo>
                    <a:pt x="73186" y="658679"/>
                  </a:lnTo>
                  <a:lnTo>
                    <a:pt x="73186" y="0"/>
                  </a:lnTo>
                  <a:close/>
                </a:path>
              </a:pathLst>
            </a:custGeom>
            <a:ln w="9148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">
            <a:extLst>
              <a:ext uri="{FF2B5EF4-FFF2-40B4-BE49-F238E27FC236}">
                <a16:creationId xmlns:a16="http://schemas.microsoft.com/office/drawing/2014/main" id="{42E1882A-3157-D0A4-7A61-14005EA83FF5}"/>
              </a:ext>
            </a:extLst>
          </p:cNvPr>
          <p:cNvGrpSpPr/>
          <p:nvPr/>
        </p:nvGrpSpPr>
        <p:grpSpPr>
          <a:xfrm>
            <a:off x="10581196" y="4037557"/>
            <a:ext cx="448309" cy="887730"/>
            <a:chOff x="507732" y="1060697"/>
            <a:chExt cx="448309" cy="887730"/>
          </a:xfrm>
        </p:grpSpPr>
        <p:pic>
          <p:nvPicPr>
            <p:cNvPr id="31" name="object 4">
              <a:extLst>
                <a:ext uri="{FF2B5EF4-FFF2-40B4-BE49-F238E27FC236}">
                  <a16:creationId xmlns:a16="http://schemas.microsoft.com/office/drawing/2014/main" id="{5BD53882-85BE-F51F-FEFD-9394B00C30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306" y="1065272"/>
              <a:ext cx="439119" cy="878239"/>
            </a:xfrm>
            <a:prstGeom prst="rect">
              <a:avLst/>
            </a:prstGeom>
          </p:spPr>
        </p:pic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C235C47D-E3B7-2712-AB89-F853DE54A032}"/>
                </a:ext>
              </a:extLst>
            </p:cNvPr>
            <p:cNvSpPr/>
            <p:nvPr/>
          </p:nvSpPr>
          <p:spPr>
            <a:xfrm>
              <a:off x="512306" y="1065272"/>
              <a:ext cx="439420" cy="878840"/>
            </a:xfrm>
            <a:custGeom>
              <a:avLst/>
              <a:gdLst/>
              <a:ahLst/>
              <a:cxnLst/>
              <a:rect l="l" t="t" r="r" b="b"/>
              <a:pathLst>
                <a:path w="439419" h="878839">
                  <a:moveTo>
                    <a:pt x="73186" y="0"/>
                  </a:moveTo>
                  <a:lnTo>
                    <a:pt x="365933" y="0"/>
                  </a:lnTo>
                  <a:lnTo>
                    <a:pt x="365933" y="658679"/>
                  </a:lnTo>
                  <a:lnTo>
                    <a:pt x="439119" y="658679"/>
                  </a:lnTo>
                  <a:lnTo>
                    <a:pt x="219559" y="878239"/>
                  </a:lnTo>
                  <a:lnTo>
                    <a:pt x="0" y="658679"/>
                  </a:lnTo>
                  <a:lnTo>
                    <a:pt x="73186" y="658679"/>
                  </a:lnTo>
                  <a:lnTo>
                    <a:pt x="73186" y="0"/>
                  </a:lnTo>
                  <a:close/>
                </a:path>
              </a:pathLst>
            </a:custGeom>
            <a:ln w="9148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948" y="408793"/>
            <a:ext cx="10256103" cy="1139627"/>
          </a:xfrm>
          <a:prstGeom prst="rect">
            <a:avLst/>
          </a:prstGeom>
        </p:spPr>
        <p:txBody>
          <a:bodyPr vert="horz" wrap="square" lIns="0" tIns="299231" rIns="0" bIns="0" rtlCol="0">
            <a:spAutoFit/>
          </a:bodyPr>
          <a:lstStyle/>
          <a:p>
            <a:pPr marL="4298950" marR="5080" algn="r">
              <a:lnSpc>
                <a:spcPts val="3379"/>
              </a:lnSpc>
              <a:spcBef>
                <a:spcPts val="50"/>
              </a:spcBef>
            </a:pPr>
            <a:r>
              <a:rPr lang="he-IL" sz="2800" dirty="0"/>
              <a:t>תרומה למחקר: חדשנות בעולם </a:t>
            </a:r>
            <a:r>
              <a:rPr lang="he-IL" sz="2800" dirty="0" err="1"/>
              <a:t>האנליטיקה</a:t>
            </a:r>
            <a:r>
              <a:rPr lang="he-IL" sz="2800" dirty="0"/>
              <a:t> הספורטיבית</a:t>
            </a:r>
            <a:endParaRPr sz="2700" dirty="0"/>
          </a:p>
        </p:txBody>
      </p:sp>
      <p:sp>
        <p:nvSpPr>
          <p:cNvPr id="5" name="object 5"/>
          <p:cNvSpPr txBox="1"/>
          <p:nvPr/>
        </p:nvSpPr>
        <p:spPr>
          <a:xfrm>
            <a:off x="4953000" y="2249486"/>
            <a:ext cx="5409565" cy="254864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שאלה חדשה</a:t>
            </a:r>
            <a:endParaRPr lang="he-IL" sz="1600" dirty="0"/>
          </a:p>
          <a:p>
            <a:pPr marL="12700" marR="165735" algn="r">
              <a:lnSpc>
                <a:spcPct val="134300"/>
              </a:lnSpc>
              <a:spcBef>
                <a:spcPts val="540"/>
              </a:spcBef>
            </a:pPr>
            <a:r>
              <a:rPr lang="he-IL" sz="1400" dirty="0"/>
              <a:t>מה ההשפעה של מומנטום לעומת פסק זמן – נושא שנחקר בעיקר תאורטית ולא מעשית.</a:t>
            </a:r>
          </a:p>
          <a:p>
            <a:pPr marL="12700" marR="165735" algn="r">
              <a:lnSpc>
                <a:spcPct val="134300"/>
              </a:lnSpc>
              <a:spcBef>
                <a:spcPts val="540"/>
              </a:spcBef>
            </a:pPr>
            <a:endParaRPr sz="1350" dirty="0">
              <a:latin typeface="Verdana"/>
              <a:cs typeface="Verdana"/>
            </a:endParaRPr>
          </a:p>
          <a:p>
            <a:pPr algn="r"/>
            <a:r>
              <a:rPr lang="he-IL" sz="1600" b="1" dirty="0"/>
              <a:t>זיהוי פעולה אופטימלית</a:t>
            </a:r>
          </a:p>
          <a:p>
            <a:pPr algn="r"/>
            <a:r>
              <a:rPr lang="he-IL" sz="1600" b="1" dirty="0"/>
              <a:t>     </a:t>
            </a:r>
            <a:r>
              <a:rPr lang="he-IL" sz="1400" dirty="0"/>
              <a:t>האם קיימת חלונית זמן מוגדרת שבה פסק זמן הוא בעל אפקטיביות מרבית?</a:t>
            </a:r>
          </a:p>
          <a:p>
            <a:pPr marL="12700" marR="593090" algn="r">
              <a:lnSpc>
                <a:spcPct val="129600"/>
              </a:lnSpc>
              <a:spcBef>
                <a:spcPts val="615"/>
              </a:spcBef>
            </a:pPr>
            <a:endParaRPr sz="1350" dirty="0">
              <a:latin typeface="Verdana"/>
              <a:cs typeface="Verdana"/>
            </a:endParaRPr>
          </a:p>
          <a:p>
            <a:pPr algn="r"/>
            <a:r>
              <a:rPr lang="he-IL" sz="1600" b="1" dirty="0"/>
              <a:t>הבחנה בין התקפה להגנה</a:t>
            </a:r>
            <a:endParaRPr lang="he-IL" sz="1600" dirty="0"/>
          </a:p>
          <a:p>
            <a:pPr marL="12700" algn="r">
              <a:lnSpc>
                <a:spcPct val="100000"/>
              </a:lnSpc>
            </a:pPr>
            <a:r>
              <a:rPr lang="he-IL" sz="1400" dirty="0"/>
              <a:t>      מומנטום התקפי שונה ממומנטום הגנתי – דפוסים שונים, תחזיות שונות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 rot="10644798">
            <a:off x="10930572" y="3456943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12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 rot="10800000">
            <a:off x="10879134" y="4636928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12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4"/>
          <p:cNvSpPr/>
          <p:nvPr/>
        </p:nvSpPr>
        <p:spPr>
          <a:xfrm rot="10800000">
            <a:off x="10856967" y="2249487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12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2399" y="1111390"/>
            <a:ext cx="406590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r"/>
            <a:r>
              <a:rPr lang="he-IL" sz="2800" b="1" dirty="0"/>
              <a:t>כלים וטכנולוגיות</a:t>
            </a:r>
            <a:endParaRPr lang="he-IL" sz="28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903" y="2579490"/>
            <a:ext cx="375017" cy="37504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0312" y="2630487"/>
            <a:ext cx="4298315" cy="13908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5" dirty="0">
                <a:solidFill>
                  <a:srgbClr val="3D3E43"/>
                </a:solidFill>
                <a:latin typeface="Verdana"/>
                <a:cs typeface="Verdana"/>
              </a:rPr>
              <a:t>Python</a:t>
            </a:r>
            <a:r>
              <a:rPr sz="1650" spc="-11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3D3E43"/>
                </a:solidFill>
                <a:latin typeface="Verdana"/>
                <a:cs typeface="Verdana"/>
              </a:rPr>
              <a:t>3.7+</a:t>
            </a:r>
            <a:endParaRPr sz="1650" dirty="0">
              <a:latin typeface="Verdana"/>
              <a:cs typeface="Verdana"/>
            </a:endParaRPr>
          </a:p>
          <a:p>
            <a:pPr marL="12700" marR="5080" algn="r">
              <a:lnSpc>
                <a:spcPct val="134300"/>
              </a:lnSpc>
              <a:spcBef>
                <a:spcPts val="540"/>
              </a:spcBef>
            </a:pPr>
            <a:r>
              <a:rPr lang="he-IL" sz="1400" dirty="0"/>
              <a:t>הפיתוח המרכזי לעיבוד נתונים והתקדמות המודל</a:t>
            </a: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dirty="0">
                <a:solidFill>
                  <a:srgbClr val="3D3E43"/>
                </a:solidFill>
                <a:latin typeface="Verdana"/>
                <a:cs typeface="Verdana"/>
              </a:rPr>
              <a:t>Scikit-learn</a:t>
            </a:r>
            <a:r>
              <a:rPr sz="16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3D3E43"/>
                </a:solidFill>
                <a:latin typeface="Verdana"/>
                <a:cs typeface="Verdana"/>
              </a:rPr>
              <a:t>C</a:t>
            </a:r>
            <a:r>
              <a:rPr sz="1650" spc="-7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spc="-10" dirty="0" err="1">
                <a:solidFill>
                  <a:srgbClr val="3D3E43"/>
                </a:solidFill>
                <a:latin typeface="Verdana"/>
                <a:cs typeface="Verdana"/>
              </a:rPr>
              <a:t>XGBoost</a:t>
            </a:r>
            <a:endParaRPr sz="1650" dirty="0">
              <a:latin typeface="Verdana"/>
              <a:cs typeface="Verdana"/>
            </a:endParaRPr>
          </a:p>
          <a:p>
            <a:pPr algn="r"/>
            <a:r>
              <a:rPr lang="he-IL" sz="1400" dirty="0"/>
              <a:t>אלגוריתמים ולמידה עבור מודלים חיזויים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46559" y="2552699"/>
            <a:ext cx="375056" cy="4286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452399" y="2630487"/>
            <a:ext cx="4006215" cy="194630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25" dirty="0">
                <a:solidFill>
                  <a:srgbClr val="3D3E43"/>
                </a:solidFill>
                <a:latin typeface="Verdana"/>
                <a:cs typeface="Verdana"/>
              </a:rPr>
              <a:t>NBA</a:t>
            </a:r>
            <a:r>
              <a:rPr sz="1650" spc="-9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3D3E43"/>
                </a:solidFill>
                <a:latin typeface="Verdana"/>
                <a:cs typeface="Verdana"/>
              </a:rPr>
              <a:t>API</a:t>
            </a:r>
            <a:r>
              <a:rPr sz="1650" spc="-9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3D3E43"/>
                </a:solidFill>
                <a:latin typeface="Verdana"/>
                <a:cs typeface="Verdana"/>
              </a:rPr>
              <a:t>C</a:t>
            </a:r>
            <a:r>
              <a:rPr sz="1650" spc="-9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spc="60" dirty="0">
                <a:solidFill>
                  <a:srgbClr val="3D3E43"/>
                </a:solidFill>
                <a:latin typeface="Verdana"/>
                <a:cs typeface="Verdana"/>
              </a:rPr>
              <a:t>Pandas</a:t>
            </a:r>
            <a:endParaRPr sz="1650" dirty="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endParaRPr lang="he-IL" sz="1400" dirty="0"/>
          </a:p>
          <a:p>
            <a:pPr marL="12700" marR="5080" algn="r">
              <a:lnSpc>
                <a:spcPct val="134300"/>
              </a:lnSpc>
              <a:spcBef>
                <a:spcPts val="540"/>
              </a:spcBef>
            </a:pPr>
            <a:r>
              <a:rPr lang="he-IL" sz="1400" dirty="0"/>
              <a:t>איסוף וניהול נתוני מהלך-אחר-מהלך של משחקים</a:t>
            </a: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3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650" spc="70" dirty="0">
                <a:solidFill>
                  <a:srgbClr val="3D3E43"/>
                </a:solidFill>
                <a:latin typeface="Verdana"/>
                <a:cs typeface="Verdana"/>
              </a:rPr>
              <a:t>Matplotlib</a:t>
            </a:r>
            <a:r>
              <a:rPr sz="1650" spc="-12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dirty="0">
                <a:solidFill>
                  <a:srgbClr val="3D3E43"/>
                </a:solidFill>
                <a:latin typeface="Verdana"/>
                <a:cs typeface="Verdana"/>
              </a:rPr>
              <a:t>C</a:t>
            </a:r>
            <a:r>
              <a:rPr sz="1650" spc="-114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D3E43"/>
                </a:solidFill>
                <a:latin typeface="Verdana"/>
                <a:cs typeface="Verdana"/>
              </a:rPr>
              <a:t>Seaborn</a:t>
            </a:r>
            <a:endParaRPr sz="1650" dirty="0">
              <a:latin typeface="Verdana"/>
              <a:cs typeface="Verdana"/>
            </a:endParaRPr>
          </a:p>
          <a:p>
            <a:pPr marL="12700" algn="r">
              <a:lnSpc>
                <a:spcPct val="100000"/>
              </a:lnSpc>
              <a:spcBef>
                <a:spcPts val="1095"/>
              </a:spcBef>
            </a:pPr>
            <a:r>
              <a:rPr lang="he-IL" sz="1400" dirty="0"/>
              <a:t>ויזואליזציה של תוצאות והתנהגות המודל</a:t>
            </a:r>
            <a:endParaRPr sz="135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6864" y="3914775"/>
            <a:ext cx="375046" cy="4286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46559" y="3941559"/>
            <a:ext cx="375056" cy="375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948" y="408793"/>
            <a:ext cx="10256103" cy="1306915"/>
          </a:xfrm>
          <a:prstGeom prst="rect">
            <a:avLst/>
          </a:prstGeom>
        </p:spPr>
        <p:txBody>
          <a:bodyPr vert="horz" wrap="square" lIns="0" tIns="867556" rIns="0" bIns="0" rtlCol="0">
            <a:spAutoFit/>
          </a:bodyPr>
          <a:lstStyle/>
          <a:p>
            <a:pPr algn="r"/>
            <a:r>
              <a:rPr lang="he-IL" sz="2800" b="1" dirty="0"/>
              <a:t>שלבי פיתוח: התחלה חזקה</a:t>
            </a:r>
            <a:endParaRPr lang="he-IL" sz="2800" dirty="0"/>
          </a:p>
        </p:txBody>
      </p:sp>
      <p:sp>
        <p:nvSpPr>
          <p:cNvPr id="4" name="object 4"/>
          <p:cNvSpPr/>
          <p:nvPr/>
        </p:nvSpPr>
        <p:spPr>
          <a:xfrm>
            <a:off x="4924425" y="2695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24425" y="3305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4425" y="3638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73625" y="2125662"/>
            <a:ext cx="2677795" cy="1636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שלב 1: השבוע הראשון</a:t>
            </a:r>
            <a:endParaRPr lang="he-IL" sz="1600" dirty="0"/>
          </a:p>
          <a:p>
            <a:pPr marL="286385" marR="5080">
              <a:lnSpc>
                <a:spcPct val="134300"/>
              </a:lnSpc>
              <a:spcBef>
                <a:spcPts val="1065"/>
              </a:spcBef>
            </a:pPr>
            <a:r>
              <a:rPr lang="en-US" sz="1350" spc="-95" dirty="0">
                <a:solidFill>
                  <a:srgbClr val="3D3E43"/>
                </a:solidFill>
                <a:latin typeface="Verdana"/>
                <a:cs typeface="Verdana"/>
              </a:rPr>
              <a:t>Install</a:t>
            </a:r>
            <a:r>
              <a:rPr lang="en-US"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lang="en-US" sz="1350" spc="-45" dirty="0">
                <a:solidFill>
                  <a:srgbClr val="3D3E43"/>
                </a:solidFill>
                <a:latin typeface="Verdana"/>
                <a:cs typeface="Verdana"/>
              </a:rPr>
              <a:t>packages</a:t>
            </a:r>
            <a:r>
              <a:rPr lang="en-US"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lang="en-US" sz="1350" spc="-65" dirty="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lang="en-US"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lang="en-US" sz="1350" spc="-55" dirty="0">
                <a:solidFill>
                  <a:srgbClr val="3D3E43"/>
                </a:solidFill>
                <a:latin typeface="Verdana"/>
                <a:cs typeface="Verdana"/>
              </a:rPr>
              <a:t>build</a:t>
            </a:r>
            <a:r>
              <a:rPr lang="en-US"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lang="en-US" sz="1350" spc="-25" dirty="0">
                <a:solidFill>
                  <a:srgbClr val="3D3E43"/>
                </a:solidFill>
                <a:latin typeface="Verdana"/>
                <a:cs typeface="Verdana"/>
              </a:rPr>
              <a:t>API </a:t>
            </a:r>
            <a:r>
              <a:rPr lang="en-US" sz="1350" spc="-10" dirty="0">
                <a:solidFill>
                  <a:srgbClr val="3D3E43"/>
                </a:solidFill>
                <a:latin typeface="Verdana"/>
                <a:cs typeface="Verdana"/>
              </a:rPr>
              <a:t>communication</a:t>
            </a:r>
            <a:endParaRPr lang="en-US" sz="1350" dirty="0">
              <a:latin typeface="Verdana"/>
              <a:cs typeface="Verdana"/>
            </a:endParaRPr>
          </a:p>
          <a:p>
            <a:pPr marL="286385" marR="33655">
              <a:lnSpc>
                <a:spcPct val="162000"/>
              </a:lnSpc>
            </a:pPr>
            <a:r>
              <a:rPr sz="1350" spc="-45" dirty="0">
                <a:solidFill>
                  <a:srgbClr val="3D3E43"/>
                </a:solidFill>
                <a:latin typeface="Verdana"/>
                <a:cs typeface="Verdana"/>
              </a:rPr>
              <a:t>Define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3D3E43"/>
                </a:solidFill>
                <a:latin typeface="Verdana"/>
                <a:cs typeface="Verdana"/>
              </a:rPr>
              <a:t>basic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project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3D3E43"/>
                </a:solidFill>
                <a:latin typeface="Verdana"/>
                <a:cs typeface="Verdana"/>
              </a:rPr>
              <a:t>structure 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Test</a:t>
            </a:r>
            <a:r>
              <a:rPr sz="1350" spc="-85" dirty="0">
                <a:solidFill>
                  <a:srgbClr val="3D3E43"/>
                </a:solidFill>
                <a:latin typeface="Verdana"/>
                <a:cs typeface="Verdana"/>
              </a:rPr>
              <a:t> data </a:t>
            </a:r>
            <a:r>
              <a:rPr sz="1350" spc="-35" dirty="0">
                <a:solidFill>
                  <a:srgbClr val="3D3E43"/>
                </a:solidFill>
                <a:latin typeface="Verdana"/>
                <a:cs typeface="Verdana"/>
              </a:rPr>
              <a:t>source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3D3E43"/>
                </a:solidFill>
                <a:latin typeface="Verdana"/>
                <a:cs typeface="Verdana"/>
              </a:rPr>
              <a:t>connectivity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15300" y="26955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115300" y="33051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115300" y="3914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64055" y="2125662"/>
            <a:ext cx="2712720" cy="21888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שלב 2: שבועות 2–3</a:t>
            </a:r>
            <a:endParaRPr lang="he-IL" sz="1600" dirty="0"/>
          </a:p>
          <a:p>
            <a:pPr marL="286385" marR="20320">
              <a:lnSpc>
                <a:spcPct val="134300"/>
              </a:lnSpc>
              <a:spcBef>
                <a:spcPts val="1065"/>
              </a:spcBef>
            </a:pPr>
            <a:r>
              <a:rPr sz="1350" spc="-40" dirty="0">
                <a:solidFill>
                  <a:srgbClr val="3D3E43"/>
                </a:solidFill>
                <a:latin typeface="Verdana"/>
                <a:cs typeface="Verdana"/>
              </a:rPr>
              <a:t>Academic</a:t>
            </a:r>
            <a:r>
              <a:rPr sz="1350" spc="-6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3D3E43"/>
                </a:solidFill>
                <a:latin typeface="Verdana"/>
                <a:cs typeface="Verdana"/>
              </a:rPr>
              <a:t>literature</a:t>
            </a:r>
            <a:r>
              <a:rPr sz="1350" spc="-60" dirty="0">
                <a:solidFill>
                  <a:srgbClr val="3D3E43"/>
                </a:solidFill>
                <a:latin typeface="Verdana"/>
                <a:cs typeface="Verdana"/>
              </a:rPr>
              <a:t> review </a:t>
            </a:r>
            <a:r>
              <a:rPr sz="1350" spc="-25" dirty="0">
                <a:solidFill>
                  <a:srgbClr val="3D3E43"/>
                </a:solidFill>
                <a:latin typeface="Verdana"/>
                <a:cs typeface="Verdana"/>
              </a:rPr>
              <a:t>(5- </a:t>
            </a:r>
            <a:r>
              <a:rPr sz="1350" spc="-190" dirty="0">
                <a:solidFill>
                  <a:srgbClr val="3D3E43"/>
                </a:solidFill>
                <a:latin typeface="Verdana"/>
                <a:cs typeface="Verdana"/>
              </a:rPr>
              <a:t>10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articles)</a:t>
            </a:r>
            <a:endParaRPr sz="1350" dirty="0">
              <a:latin typeface="Verdana"/>
              <a:cs typeface="Verdana"/>
            </a:endParaRPr>
          </a:p>
          <a:p>
            <a:pPr marL="286385" marR="5080">
              <a:lnSpc>
                <a:spcPct val="134300"/>
              </a:lnSpc>
              <a:spcBef>
                <a:spcPts val="450"/>
              </a:spcBef>
            </a:pPr>
            <a:r>
              <a:rPr sz="1350" spc="-45" dirty="0">
                <a:solidFill>
                  <a:srgbClr val="3D3E43"/>
                </a:solidFill>
                <a:latin typeface="Verdana"/>
                <a:cs typeface="Verdana"/>
              </a:rPr>
              <a:t>Define</a:t>
            </a:r>
            <a:r>
              <a:rPr sz="1350" spc="-8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3D3E43"/>
                </a:solidFill>
                <a:latin typeface="Verdana"/>
                <a:cs typeface="Verdana"/>
              </a:rPr>
              <a:t>momentum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sz="1350" spc="-9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3D3E43"/>
                </a:solidFill>
                <a:latin typeface="Verdana"/>
                <a:cs typeface="Verdana"/>
              </a:rPr>
              <a:t>criteria 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for</a:t>
            </a:r>
            <a:r>
              <a:rPr sz="1350" spc="-8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3D3E43"/>
                </a:solidFill>
                <a:latin typeface="Verdana"/>
                <a:cs typeface="Verdana"/>
              </a:rPr>
              <a:t>pause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success</a:t>
            </a:r>
            <a:endParaRPr sz="1350" dirty="0">
              <a:latin typeface="Verdana"/>
              <a:cs typeface="Verdana"/>
            </a:endParaRPr>
          </a:p>
          <a:p>
            <a:pPr marL="286385" marR="340995">
              <a:lnSpc>
                <a:spcPct val="134300"/>
              </a:lnSpc>
              <a:spcBef>
                <a:spcPts val="450"/>
              </a:spcBef>
            </a:pPr>
            <a:r>
              <a:rPr sz="1350" spc="-85" dirty="0">
                <a:solidFill>
                  <a:srgbClr val="3D3E43"/>
                </a:solidFill>
                <a:latin typeface="Verdana"/>
                <a:cs typeface="Verdana"/>
              </a:rPr>
              <a:t>Write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3D3E43"/>
                </a:solidFill>
                <a:latin typeface="Verdana"/>
                <a:cs typeface="Verdana"/>
              </a:rPr>
              <a:t>literature</a:t>
            </a:r>
            <a:r>
              <a:rPr sz="1350" spc="-6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3D3E43"/>
                </a:solidFill>
                <a:latin typeface="Verdana"/>
                <a:cs typeface="Verdana"/>
              </a:rPr>
              <a:t>review</a:t>
            </a: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3D3E43"/>
                </a:solidFill>
                <a:latin typeface="Verdana"/>
                <a:cs typeface="Verdana"/>
              </a:rPr>
              <a:t>and </a:t>
            </a:r>
            <a:r>
              <a:rPr sz="1350" spc="-55" dirty="0">
                <a:solidFill>
                  <a:srgbClr val="3D3E43"/>
                </a:solidFill>
                <a:latin typeface="Verdana"/>
                <a:cs typeface="Verdana"/>
              </a:rPr>
              <a:t>finalize</a:t>
            </a:r>
            <a:r>
              <a:rPr sz="1350" spc="-5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foundation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73625" y="4536440"/>
            <a:ext cx="5678805" cy="8400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r">
              <a:lnSpc>
                <a:spcPct val="134300"/>
              </a:lnSpc>
              <a:spcBef>
                <a:spcPts val="100"/>
              </a:spcBef>
            </a:pPr>
            <a:r>
              <a:rPr lang="he-IL" sz="1350" b="1" spc="-35" dirty="0">
                <a:solidFill>
                  <a:srgbClr val="3D3E43"/>
                </a:solidFill>
                <a:latin typeface="Tahoma"/>
                <a:cs typeface="Tahoma"/>
              </a:rPr>
              <a:t>תוצר הסופי:</a:t>
            </a:r>
            <a:r>
              <a:rPr lang="he-IL" sz="1350" spc="-35" dirty="0">
                <a:solidFill>
                  <a:srgbClr val="3D3E43"/>
                </a:solidFill>
                <a:latin typeface="Tahoma"/>
                <a:cs typeface="Tahoma"/>
              </a:rPr>
              <a:t> מערך נתונים נקי של אירועי פסק זמן,.</a:t>
            </a:r>
          </a:p>
          <a:p>
            <a:pPr marL="12700" marR="5080" algn="r">
              <a:lnSpc>
                <a:spcPct val="134300"/>
              </a:lnSpc>
              <a:spcBef>
                <a:spcPts val="100"/>
              </a:spcBef>
            </a:pPr>
            <a:r>
              <a:rPr lang="he-IL" sz="1350" spc="-35" dirty="0">
                <a:solidFill>
                  <a:srgbClr val="3D3E43"/>
                </a:solidFill>
                <a:latin typeface="Tahoma"/>
                <a:cs typeface="Tahoma"/>
              </a:rPr>
              <a:t>מדד מומנטום מדיד.</a:t>
            </a:r>
          </a:p>
          <a:p>
            <a:pPr marL="12700" marR="5080" algn="r">
              <a:lnSpc>
                <a:spcPct val="134300"/>
              </a:lnSpc>
              <a:spcBef>
                <a:spcPts val="100"/>
              </a:spcBef>
            </a:pPr>
            <a:r>
              <a:rPr lang="he-IL" sz="1350" spc="-35" dirty="0">
                <a:solidFill>
                  <a:srgbClr val="3D3E43"/>
                </a:solidFill>
                <a:latin typeface="Tahoma"/>
                <a:cs typeface="Tahoma"/>
              </a:rPr>
              <a:t>תשתית מוכנה לאימון המודלים המתקדמים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4" y="2159000"/>
            <a:ext cx="6270625" cy="111440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algn="r"/>
            <a:r>
              <a:rPr lang="he-IL" sz="3600" b="1" dirty="0"/>
              <a:t>יישום המודל, שילוב </a:t>
            </a:r>
            <a:r>
              <a:rPr lang="he-IL" sz="3600" b="1" dirty="0" err="1"/>
              <a:t>הצ'אטבוט</a:t>
            </a:r>
            <a:r>
              <a:rPr lang="he-IL" sz="3600" b="1" dirty="0"/>
              <a:t> והערכה</a:t>
            </a:r>
            <a:endParaRPr lang="he-IL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43200" y="2859765"/>
            <a:ext cx="8374380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r"/>
            <a:r>
              <a:rPr lang="he-IL" sz="3600" b="1" dirty="0"/>
              <a:t>שלב 3: איסוף ועיבוד נתונים</a:t>
            </a:r>
            <a:endParaRPr lang="he-IL" sz="360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4" y="4824412"/>
            <a:ext cx="85724" cy="857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4550" y="4716462"/>
            <a:ext cx="2989580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איסוף נתונים</a:t>
            </a:r>
            <a:endParaRPr lang="he-IL" sz="1600" dirty="0"/>
          </a:p>
          <a:p>
            <a:pPr algn="r"/>
            <a:r>
              <a:rPr lang="he-IL" sz="1400" dirty="0"/>
              <a:t>משחקים מרובים ממספר עונות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24" y="4824412"/>
            <a:ext cx="85724" cy="857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25937" y="4716462"/>
            <a:ext cx="2333625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זיהוי אירועים</a:t>
            </a:r>
            <a:endParaRPr lang="he-IL" sz="1600" dirty="0"/>
          </a:p>
          <a:p>
            <a:pPr algn="r"/>
            <a:r>
              <a:rPr lang="he-IL" sz="1400" dirty="0"/>
              <a:t>פסקי זמן ושינויים בתוצאה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62849" y="4824412"/>
            <a:ext cx="85724" cy="8572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807325" y="4716462"/>
            <a:ext cx="2631440" cy="69442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ניקוי נתונים</a:t>
            </a:r>
            <a:endParaRPr lang="he-IL" sz="1600" dirty="0"/>
          </a:p>
          <a:p>
            <a:pPr algn="r"/>
            <a:r>
              <a:rPr lang="he-IL" sz="1400" dirty="0"/>
              <a:t>בקרת איכות מקיפה ושמירה על עקביות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7"/>
            <a:ext cx="4002141" cy="64387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49741" y="423088"/>
            <a:ext cx="5235575" cy="992579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algn="r"/>
            <a:r>
              <a:rPr lang="he-IL" sz="3200" b="1" dirty="0"/>
              <a:t>שלב 4: הנדסת תכונות מתקדמת</a:t>
            </a:r>
            <a:endParaRPr lang="he-IL" sz="3200" dirty="0"/>
          </a:p>
        </p:txBody>
      </p:sp>
      <p:grpSp>
        <p:nvGrpSpPr>
          <p:cNvPr id="4" name="object 4"/>
          <p:cNvGrpSpPr/>
          <p:nvPr/>
        </p:nvGrpSpPr>
        <p:grpSpPr>
          <a:xfrm>
            <a:off x="4544653" y="1680899"/>
            <a:ext cx="5567680" cy="960755"/>
            <a:chOff x="4544653" y="1680899"/>
            <a:chExt cx="5567680" cy="960755"/>
          </a:xfrm>
        </p:grpSpPr>
        <p:sp>
          <p:nvSpPr>
            <p:cNvPr id="5" name="object 5"/>
            <p:cNvSpPr/>
            <p:nvPr/>
          </p:nvSpPr>
          <p:spPr>
            <a:xfrm>
              <a:off x="4563224" y="1680908"/>
              <a:ext cx="5549265" cy="960755"/>
            </a:xfrm>
            <a:custGeom>
              <a:avLst/>
              <a:gdLst/>
              <a:ahLst/>
              <a:cxnLst/>
              <a:rect l="l" t="t" r="r" b="b"/>
              <a:pathLst>
                <a:path w="5549265" h="960755">
                  <a:moveTo>
                    <a:pt x="5548846" y="120065"/>
                  </a:moveTo>
                  <a:lnTo>
                    <a:pt x="5539702" y="74117"/>
                  </a:lnTo>
                  <a:lnTo>
                    <a:pt x="5514086" y="35636"/>
                  </a:lnTo>
                  <a:lnTo>
                    <a:pt x="5513679" y="35166"/>
                  </a:lnTo>
                  <a:lnTo>
                    <a:pt x="5504916" y="27203"/>
                  </a:lnTo>
                  <a:lnTo>
                    <a:pt x="5463591" y="5143"/>
                  </a:lnTo>
                  <a:lnTo>
                    <a:pt x="5428780" y="0"/>
                  </a:lnTo>
                  <a:lnTo>
                    <a:pt x="70358" y="0"/>
                  </a:lnTo>
                  <a:lnTo>
                    <a:pt x="30822" y="11976"/>
                  </a:lnTo>
                  <a:lnTo>
                    <a:pt x="4622" y="43929"/>
                  </a:lnTo>
                  <a:lnTo>
                    <a:pt x="0" y="61099"/>
                  </a:lnTo>
                  <a:lnTo>
                    <a:pt x="1016" y="57264"/>
                  </a:lnTo>
                  <a:lnTo>
                    <a:pt x="8229" y="44196"/>
                  </a:lnTo>
                  <a:lnTo>
                    <a:pt x="43129" y="21856"/>
                  </a:lnTo>
                  <a:lnTo>
                    <a:pt x="70358" y="17780"/>
                  </a:lnTo>
                  <a:lnTo>
                    <a:pt x="5428780" y="17780"/>
                  </a:lnTo>
                  <a:lnTo>
                    <a:pt x="5467909" y="25565"/>
                  </a:lnTo>
                  <a:lnTo>
                    <a:pt x="5501106" y="47739"/>
                  </a:lnTo>
                  <a:lnTo>
                    <a:pt x="5501525" y="48209"/>
                  </a:lnTo>
                  <a:lnTo>
                    <a:pt x="5507875" y="55206"/>
                  </a:lnTo>
                  <a:lnTo>
                    <a:pt x="5526671" y="90411"/>
                  </a:lnTo>
                  <a:lnTo>
                    <a:pt x="5531053" y="120065"/>
                  </a:lnTo>
                  <a:lnTo>
                    <a:pt x="5531053" y="840447"/>
                  </a:lnTo>
                  <a:lnTo>
                    <a:pt x="5523268" y="879576"/>
                  </a:lnTo>
                  <a:lnTo>
                    <a:pt x="5501525" y="912304"/>
                  </a:lnTo>
                  <a:lnTo>
                    <a:pt x="5501106" y="912774"/>
                  </a:lnTo>
                  <a:lnTo>
                    <a:pt x="5467909" y="934935"/>
                  </a:lnTo>
                  <a:lnTo>
                    <a:pt x="5428780" y="942721"/>
                  </a:lnTo>
                  <a:lnTo>
                    <a:pt x="70358" y="942721"/>
                  </a:lnTo>
                  <a:lnTo>
                    <a:pt x="30822" y="933742"/>
                  </a:lnTo>
                  <a:lnTo>
                    <a:pt x="1016" y="903249"/>
                  </a:lnTo>
                  <a:lnTo>
                    <a:pt x="0" y="899426"/>
                  </a:lnTo>
                  <a:lnTo>
                    <a:pt x="571" y="903249"/>
                  </a:lnTo>
                  <a:lnTo>
                    <a:pt x="20040" y="939673"/>
                  </a:lnTo>
                  <a:lnTo>
                    <a:pt x="56476" y="959154"/>
                  </a:lnTo>
                  <a:lnTo>
                    <a:pt x="70358" y="960513"/>
                  </a:lnTo>
                  <a:lnTo>
                    <a:pt x="5428780" y="960513"/>
                  </a:lnTo>
                  <a:lnTo>
                    <a:pt x="5474728" y="951369"/>
                  </a:lnTo>
                  <a:lnTo>
                    <a:pt x="5513679" y="925334"/>
                  </a:lnTo>
                  <a:lnTo>
                    <a:pt x="5539702" y="886396"/>
                  </a:lnTo>
                  <a:lnTo>
                    <a:pt x="5548846" y="840447"/>
                  </a:lnTo>
                  <a:lnTo>
                    <a:pt x="5548846" y="120065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4653" y="1680899"/>
              <a:ext cx="71149" cy="9605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80976" y="1841625"/>
            <a:ext cx="4679315" cy="605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r"/>
            <a:r>
              <a:rPr lang="he-IL" sz="1600" b="1" dirty="0"/>
              <a:t>מדד מומנטום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1030"/>
              </a:spcBef>
            </a:pPr>
            <a:r>
              <a:rPr lang="he-IL" sz="1400" dirty="0"/>
              <a:t>מחושב בהתבסס על הגדרות אקדמיות ודינמיקת המשחק</a:t>
            </a:r>
            <a:endParaRPr sz="1250" dirty="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44653" y="2801498"/>
            <a:ext cx="5567680" cy="960755"/>
            <a:chOff x="4544653" y="2801498"/>
            <a:chExt cx="5567680" cy="960755"/>
          </a:xfrm>
        </p:grpSpPr>
        <p:sp>
          <p:nvSpPr>
            <p:cNvPr id="9" name="object 9"/>
            <p:cNvSpPr/>
            <p:nvPr/>
          </p:nvSpPr>
          <p:spPr>
            <a:xfrm>
              <a:off x="4563224" y="2801505"/>
              <a:ext cx="5549265" cy="960755"/>
            </a:xfrm>
            <a:custGeom>
              <a:avLst/>
              <a:gdLst/>
              <a:ahLst/>
              <a:cxnLst/>
              <a:rect l="l" t="t" r="r" b="b"/>
              <a:pathLst>
                <a:path w="5549265" h="960754">
                  <a:moveTo>
                    <a:pt x="5548846" y="120065"/>
                  </a:moveTo>
                  <a:lnTo>
                    <a:pt x="5539702" y="74117"/>
                  </a:lnTo>
                  <a:lnTo>
                    <a:pt x="5514098" y="35636"/>
                  </a:lnTo>
                  <a:lnTo>
                    <a:pt x="5513921" y="35445"/>
                  </a:lnTo>
                  <a:lnTo>
                    <a:pt x="5513679" y="35166"/>
                  </a:lnTo>
                  <a:lnTo>
                    <a:pt x="5504916" y="27203"/>
                  </a:lnTo>
                  <a:lnTo>
                    <a:pt x="5495493" y="20218"/>
                  </a:lnTo>
                  <a:lnTo>
                    <a:pt x="5491442" y="17792"/>
                  </a:lnTo>
                  <a:lnTo>
                    <a:pt x="5485435" y="14185"/>
                  </a:lnTo>
                  <a:lnTo>
                    <a:pt x="5440616" y="571"/>
                  </a:lnTo>
                  <a:lnTo>
                    <a:pt x="5428780" y="0"/>
                  </a:lnTo>
                  <a:lnTo>
                    <a:pt x="70358" y="0"/>
                  </a:lnTo>
                  <a:lnTo>
                    <a:pt x="30822" y="11976"/>
                  </a:lnTo>
                  <a:lnTo>
                    <a:pt x="4622" y="43929"/>
                  </a:lnTo>
                  <a:lnTo>
                    <a:pt x="0" y="61099"/>
                  </a:lnTo>
                  <a:lnTo>
                    <a:pt x="1016" y="57264"/>
                  </a:lnTo>
                  <a:lnTo>
                    <a:pt x="8229" y="44196"/>
                  </a:lnTo>
                  <a:lnTo>
                    <a:pt x="43129" y="21856"/>
                  </a:lnTo>
                  <a:lnTo>
                    <a:pt x="70358" y="17792"/>
                  </a:lnTo>
                  <a:lnTo>
                    <a:pt x="5428780" y="17792"/>
                  </a:lnTo>
                  <a:lnTo>
                    <a:pt x="5467909" y="25565"/>
                  </a:lnTo>
                  <a:lnTo>
                    <a:pt x="5501106" y="47739"/>
                  </a:lnTo>
                  <a:lnTo>
                    <a:pt x="5501525" y="48209"/>
                  </a:lnTo>
                  <a:lnTo>
                    <a:pt x="5507875" y="55206"/>
                  </a:lnTo>
                  <a:lnTo>
                    <a:pt x="5526671" y="90411"/>
                  </a:lnTo>
                  <a:lnTo>
                    <a:pt x="5531053" y="120065"/>
                  </a:lnTo>
                  <a:lnTo>
                    <a:pt x="5531053" y="840447"/>
                  </a:lnTo>
                  <a:lnTo>
                    <a:pt x="5523268" y="879576"/>
                  </a:lnTo>
                  <a:lnTo>
                    <a:pt x="5501525" y="912304"/>
                  </a:lnTo>
                  <a:lnTo>
                    <a:pt x="5501106" y="912774"/>
                  </a:lnTo>
                  <a:lnTo>
                    <a:pt x="5467909" y="934935"/>
                  </a:lnTo>
                  <a:lnTo>
                    <a:pt x="5428780" y="942721"/>
                  </a:lnTo>
                  <a:lnTo>
                    <a:pt x="70358" y="942721"/>
                  </a:lnTo>
                  <a:lnTo>
                    <a:pt x="30822" y="933742"/>
                  </a:lnTo>
                  <a:lnTo>
                    <a:pt x="1016" y="903249"/>
                  </a:lnTo>
                  <a:lnTo>
                    <a:pt x="0" y="899426"/>
                  </a:lnTo>
                  <a:lnTo>
                    <a:pt x="571" y="903249"/>
                  </a:lnTo>
                  <a:lnTo>
                    <a:pt x="20040" y="939673"/>
                  </a:lnTo>
                  <a:lnTo>
                    <a:pt x="56476" y="959154"/>
                  </a:lnTo>
                  <a:lnTo>
                    <a:pt x="70358" y="960513"/>
                  </a:lnTo>
                  <a:lnTo>
                    <a:pt x="5428780" y="960513"/>
                  </a:lnTo>
                  <a:lnTo>
                    <a:pt x="5474728" y="951369"/>
                  </a:lnTo>
                  <a:lnTo>
                    <a:pt x="5513679" y="925347"/>
                  </a:lnTo>
                  <a:lnTo>
                    <a:pt x="5514098" y="924877"/>
                  </a:lnTo>
                  <a:lnTo>
                    <a:pt x="5521630" y="916597"/>
                  </a:lnTo>
                  <a:lnTo>
                    <a:pt x="5543702" y="875245"/>
                  </a:lnTo>
                  <a:lnTo>
                    <a:pt x="5548846" y="840447"/>
                  </a:lnTo>
                  <a:lnTo>
                    <a:pt x="5548846" y="120065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44653" y="2801498"/>
              <a:ext cx="71149" cy="96051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780976" y="2962225"/>
            <a:ext cx="4820224" cy="605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r"/>
            <a:r>
              <a:rPr lang="he-IL" sz="1600" b="1" dirty="0"/>
              <a:t>משתנים נגזרים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1030"/>
              </a:spcBef>
            </a:pPr>
            <a:r>
              <a:rPr lang="he-IL" sz="1400" dirty="0"/>
              <a:t>קצב משחק, מדד עייפות, רצפים עם משקל זמן</a:t>
            </a:r>
            <a:endParaRPr sz="1250" dirty="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44653" y="3922098"/>
            <a:ext cx="5567680" cy="951865"/>
            <a:chOff x="4544653" y="3922098"/>
            <a:chExt cx="5567680" cy="951865"/>
          </a:xfrm>
        </p:grpSpPr>
        <p:sp>
          <p:nvSpPr>
            <p:cNvPr id="13" name="object 13"/>
            <p:cNvSpPr/>
            <p:nvPr/>
          </p:nvSpPr>
          <p:spPr>
            <a:xfrm>
              <a:off x="4563224" y="3922102"/>
              <a:ext cx="5549265" cy="951865"/>
            </a:xfrm>
            <a:custGeom>
              <a:avLst/>
              <a:gdLst/>
              <a:ahLst/>
              <a:cxnLst/>
              <a:rect l="l" t="t" r="r" b="b"/>
              <a:pathLst>
                <a:path w="5549265" h="951864">
                  <a:moveTo>
                    <a:pt x="5548846" y="120065"/>
                  </a:moveTo>
                  <a:lnTo>
                    <a:pt x="5539702" y="74117"/>
                  </a:lnTo>
                  <a:lnTo>
                    <a:pt x="5514098" y="35636"/>
                  </a:lnTo>
                  <a:lnTo>
                    <a:pt x="5513679" y="35166"/>
                  </a:lnTo>
                  <a:lnTo>
                    <a:pt x="5474728" y="9144"/>
                  </a:lnTo>
                  <a:lnTo>
                    <a:pt x="5428780" y="0"/>
                  </a:lnTo>
                  <a:lnTo>
                    <a:pt x="70358" y="0"/>
                  </a:lnTo>
                  <a:lnTo>
                    <a:pt x="30822" y="11976"/>
                  </a:lnTo>
                  <a:lnTo>
                    <a:pt x="4622" y="43929"/>
                  </a:lnTo>
                  <a:lnTo>
                    <a:pt x="0" y="61099"/>
                  </a:lnTo>
                  <a:lnTo>
                    <a:pt x="1016" y="57264"/>
                  </a:lnTo>
                  <a:lnTo>
                    <a:pt x="8229" y="44196"/>
                  </a:lnTo>
                  <a:lnTo>
                    <a:pt x="43129" y="21844"/>
                  </a:lnTo>
                  <a:lnTo>
                    <a:pt x="70358" y="17792"/>
                  </a:lnTo>
                  <a:lnTo>
                    <a:pt x="5428780" y="17792"/>
                  </a:lnTo>
                  <a:lnTo>
                    <a:pt x="5467909" y="25565"/>
                  </a:lnTo>
                  <a:lnTo>
                    <a:pt x="5501106" y="47739"/>
                  </a:lnTo>
                  <a:lnTo>
                    <a:pt x="5507875" y="55219"/>
                  </a:lnTo>
                  <a:lnTo>
                    <a:pt x="5526671" y="90424"/>
                  </a:lnTo>
                  <a:lnTo>
                    <a:pt x="5531053" y="120065"/>
                  </a:lnTo>
                  <a:lnTo>
                    <a:pt x="5531053" y="831557"/>
                  </a:lnTo>
                  <a:lnTo>
                    <a:pt x="5523268" y="870686"/>
                  </a:lnTo>
                  <a:lnTo>
                    <a:pt x="5501525" y="903414"/>
                  </a:lnTo>
                  <a:lnTo>
                    <a:pt x="5501106" y="903884"/>
                  </a:lnTo>
                  <a:lnTo>
                    <a:pt x="5467909" y="926045"/>
                  </a:lnTo>
                  <a:lnTo>
                    <a:pt x="5428780" y="933831"/>
                  </a:lnTo>
                  <a:lnTo>
                    <a:pt x="70358" y="933831"/>
                  </a:lnTo>
                  <a:lnTo>
                    <a:pt x="30822" y="924852"/>
                  </a:lnTo>
                  <a:lnTo>
                    <a:pt x="1016" y="894359"/>
                  </a:lnTo>
                  <a:lnTo>
                    <a:pt x="0" y="890536"/>
                  </a:lnTo>
                  <a:lnTo>
                    <a:pt x="571" y="894359"/>
                  </a:lnTo>
                  <a:lnTo>
                    <a:pt x="20040" y="930783"/>
                  </a:lnTo>
                  <a:lnTo>
                    <a:pt x="56476" y="950264"/>
                  </a:lnTo>
                  <a:lnTo>
                    <a:pt x="70358" y="951623"/>
                  </a:lnTo>
                  <a:lnTo>
                    <a:pt x="5428780" y="951623"/>
                  </a:lnTo>
                  <a:lnTo>
                    <a:pt x="5474728" y="942479"/>
                  </a:lnTo>
                  <a:lnTo>
                    <a:pt x="5513679" y="916457"/>
                  </a:lnTo>
                  <a:lnTo>
                    <a:pt x="5514098" y="915987"/>
                  </a:lnTo>
                  <a:lnTo>
                    <a:pt x="5521630" y="907694"/>
                  </a:lnTo>
                  <a:lnTo>
                    <a:pt x="5543702" y="866355"/>
                  </a:lnTo>
                  <a:lnTo>
                    <a:pt x="5548846" y="831557"/>
                  </a:lnTo>
                  <a:lnTo>
                    <a:pt x="5548846" y="120065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4653" y="3922098"/>
              <a:ext cx="71149" cy="95162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125846" y="4143628"/>
            <a:ext cx="3475354" cy="6059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r"/>
            <a:r>
              <a:rPr lang="he-IL" sz="1600" b="1" dirty="0"/>
              <a:t>ניתוח מתאמים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1030"/>
              </a:spcBef>
            </a:pPr>
            <a:r>
              <a:rPr lang="he-IL" sz="1400" dirty="0"/>
              <a:t>בחירת משתנים מרכזיים המשפיעים על פסקי זמן</a:t>
            </a:r>
            <a:endParaRPr sz="1250" dirty="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44653" y="5033804"/>
            <a:ext cx="5567836" cy="960761"/>
            <a:chOff x="4544653" y="5033804"/>
            <a:chExt cx="5567836" cy="960761"/>
          </a:xfrm>
        </p:grpSpPr>
        <p:sp>
          <p:nvSpPr>
            <p:cNvPr id="17" name="object 17"/>
            <p:cNvSpPr/>
            <p:nvPr/>
          </p:nvSpPr>
          <p:spPr>
            <a:xfrm>
              <a:off x="4563224" y="5033810"/>
              <a:ext cx="5549265" cy="960755"/>
            </a:xfrm>
            <a:custGeom>
              <a:avLst/>
              <a:gdLst/>
              <a:ahLst/>
              <a:cxnLst/>
              <a:rect l="l" t="t" r="r" b="b"/>
              <a:pathLst>
                <a:path w="5549265" h="960754">
                  <a:moveTo>
                    <a:pt x="5548846" y="120065"/>
                  </a:moveTo>
                  <a:lnTo>
                    <a:pt x="5539702" y="74117"/>
                  </a:lnTo>
                  <a:lnTo>
                    <a:pt x="5514098" y="35636"/>
                  </a:lnTo>
                  <a:lnTo>
                    <a:pt x="5513679" y="35166"/>
                  </a:lnTo>
                  <a:lnTo>
                    <a:pt x="5474728" y="9144"/>
                  </a:lnTo>
                  <a:lnTo>
                    <a:pt x="5428780" y="0"/>
                  </a:lnTo>
                  <a:lnTo>
                    <a:pt x="70358" y="0"/>
                  </a:lnTo>
                  <a:lnTo>
                    <a:pt x="30822" y="11976"/>
                  </a:lnTo>
                  <a:lnTo>
                    <a:pt x="4622" y="43929"/>
                  </a:lnTo>
                  <a:lnTo>
                    <a:pt x="0" y="61099"/>
                  </a:lnTo>
                  <a:lnTo>
                    <a:pt x="1016" y="57264"/>
                  </a:lnTo>
                  <a:lnTo>
                    <a:pt x="8229" y="44196"/>
                  </a:lnTo>
                  <a:lnTo>
                    <a:pt x="43129" y="21844"/>
                  </a:lnTo>
                  <a:lnTo>
                    <a:pt x="70358" y="17792"/>
                  </a:lnTo>
                  <a:lnTo>
                    <a:pt x="5428780" y="17792"/>
                  </a:lnTo>
                  <a:lnTo>
                    <a:pt x="5467909" y="25565"/>
                  </a:lnTo>
                  <a:lnTo>
                    <a:pt x="5501106" y="47739"/>
                  </a:lnTo>
                  <a:lnTo>
                    <a:pt x="5507875" y="55206"/>
                  </a:lnTo>
                  <a:lnTo>
                    <a:pt x="5526671" y="90424"/>
                  </a:lnTo>
                  <a:lnTo>
                    <a:pt x="5531053" y="120065"/>
                  </a:lnTo>
                  <a:lnTo>
                    <a:pt x="5531053" y="840447"/>
                  </a:lnTo>
                  <a:lnTo>
                    <a:pt x="5523268" y="879589"/>
                  </a:lnTo>
                  <a:lnTo>
                    <a:pt x="5501525" y="912304"/>
                  </a:lnTo>
                  <a:lnTo>
                    <a:pt x="5501106" y="912774"/>
                  </a:lnTo>
                  <a:lnTo>
                    <a:pt x="5467909" y="934935"/>
                  </a:lnTo>
                  <a:lnTo>
                    <a:pt x="5428780" y="942733"/>
                  </a:lnTo>
                  <a:lnTo>
                    <a:pt x="70358" y="942733"/>
                  </a:lnTo>
                  <a:lnTo>
                    <a:pt x="30822" y="933742"/>
                  </a:lnTo>
                  <a:lnTo>
                    <a:pt x="1016" y="903249"/>
                  </a:lnTo>
                  <a:lnTo>
                    <a:pt x="0" y="899414"/>
                  </a:lnTo>
                  <a:lnTo>
                    <a:pt x="558" y="903249"/>
                  </a:lnTo>
                  <a:lnTo>
                    <a:pt x="20040" y="939673"/>
                  </a:lnTo>
                  <a:lnTo>
                    <a:pt x="56476" y="959154"/>
                  </a:lnTo>
                  <a:lnTo>
                    <a:pt x="70358" y="960513"/>
                  </a:lnTo>
                  <a:lnTo>
                    <a:pt x="5428780" y="960513"/>
                  </a:lnTo>
                  <a:lnTo>
                    <a:pt x="5474728" y="951382"/>
                  </a:lnTo>
                  <a:lnTo>
                    <a:pt x="5513679" y="925347"/>
                  </a:lnTo>
                  <a:lnTo>
                    <a:pt x="5514098" y="924877"/>
                  </a:lnTo>
                  <a:lnTo>
                    <a:pt x="5521630" y="916597"/>
                  </a:lnTo>
                  <a:lnTo>
                    <a:pt x="5543702" y="875245"/>
                  </a:lnTo>
                  <a:lnTo>
                    <a:pt x="5548846" y="840447"/>
                  </a:lnTo>
                  <a:lnTo>
                    <a:pt x="5548846" y="120065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4653" y="5033804"/>
              <a:ext cx="71149" cy="960515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602605" y="5233663"/>
            <a:ext cx="3998595" cy="47769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r"/>
            <a:r>
              <a:rPr lang="he-IL" sz="1600" b="1" dirty="0"/>
              <a:t>ויזואליזציה</a:t>
            </a:r>
            <a:endParaRPr lang="he-IL" sz="1600" dirty="0"/>
          </a:p>
          <a:p>
            <a:pPr algn="r"/>
            <a:r>
              <a:rPr lang="he-IL" sz="1400" dirty="0"/>
              <a:t>הצגת קשרים בין מדדים ותוצאות פסקי זמן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87375" y="2997200"/>
            <a:ext cx="10076815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r"/>
            <a:r>
              <a:rPr lang="he-IL" sz="3600" b="1" dirty="0"/>
              <a:t>שלב 5: פיתוח מודל למידת מכונה</a:t>
            </a:r>
            <a:endParaRPr lang="he-IL" sz="3600" dirty="0"/>
          </a:p>
        </p:txBody>
      </p:sp>
      <p:grpSp>
        <p:nvGrpSpPr>
          <p:cNvPr id="4" name="object 4"/>
          <p:cNvGrpSpPr/>
          <p:nvPr/>
        </p:nvGrpSpPr>
        <p:grpSpPr>
          <a:xfrm>
            <a:off x="600075" y="3810000"/>
            <a:ext cx="390525" cy="390525"/>
            <a:chOff x="600075" y="3810000"/>
            <a:chExt cx="390525" cy="390525"/>
          </a:xfrm>
        </p:grpSpPr>
        <p:sp>
          <p:nvSpPr>
            <p:cNvPr id="5" name="object 5"/>
            <p:cNvSpPr/>
            <p:nvPr/>
          </p:nvSpPr>
          <p:spPr>
            <a:xfrm>
              <a:off x="604837" y="38147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57174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9" y="45310"/>
                  </a:lnTo>
                  <a:lnTo>
                    <a:pt x="5301" y="87933"/>
                  </a:lnTo>
                  <a:lnTo>
                    <a:pt x="0" y="123824"/>
                  </a:lnTo>
                  <a:lnTo>
                    <a:pt x="0" y="257174"/>
                  </a:lnTo>
                  <a:lnTo>
                    <a:pt x="9425" y="304558"/>
                  </a:lnTo>
                  <a:lnTo>
                    <a:pt x="36269" y="344728"/>
                  </a:lnTo>
                  <a:lnTo>
                    <a:pt x="76438" y="371576"/>
                  </a:lnTo>
                  <a:lnTo>
                    <a:pt x="123824" y="380999"/>
                  </a:lnTo>
                  <a:lnTo>
                    <a:pt x="257174" y="380999"/>
                  </a:lnTo>
                  <a:lnTo>
                    <a:pt x="304562" y="371576"/>
                  </a:lnTo>
                  <a:lnTo>
                    <a:pt x="344730" y="344728"/>
                  </a:lnTo>
                  <a:lnTo>
                    <a:pt x="371574" y="304558"/>
                  </a:lnTo>
                  <a:lnTo>
                    <a:pt x="380999" y="257174"/>
                  </a:lnTo>
                  <a:lnTo>
                    <a:pt x="380999" y="123824"/>
                  </a:lnTo>
                  <a:lnTo>
                    <a:pt x="371574" y="76441"/>
                  </a:lnTo>
                  <a:lnTo>
                    <a:pt x="344730" y="36271"/>
                  </a:lnTo>
                  <a:lnTo>
                    <a:pt x="304562" y="9423"/>
                  </a:lnTo>
                  <a:lnTo>
                    <a:pt x="257174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3819525"/>
              <a:ext cx="371474" cy="37147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4837" y="38147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2571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257175" y="0"/>
                  </a:lnTo>
                  <a:lnTo>
                    <a:pt x="265305" y="0"/>
                  </a:lnTo>
                  <a:lnTo>
                    <a:pt x="273357" y="800"/>
                  </a:lnTo>
                  <a:lnTo>
                    <a:pt x="312073" y="12534"/>
                  </a:lnTo>
                  <a:lnTo>
                    <a:pt x="344730" y="36271"/>
                  </a:lnTo>
                  <a:lnTo>
                    <a:pt x="350480" y="42011"/>
                  </a:lnTo>
                  <a:lnTo>
                    <a:pt x="355615" y="48272"/>
                  </a:lnTo>
                  <a:lnTo>
                    <a:pt x="360128" y="55029"/>
                  </a:lnTo>
                  <a:lnTo>
                    <a:pt x="364648" y="61785"/>
                  </a:lnTo>
                  <a:lnTo>
                    <a:pt x="368463" y="68922"/>
                  </a:lnTo>
                  <a:lnTo>
                    <a:pt x="371574" y="76441"/>
                  </a:lnTo>
                  <a:lnTo>
                    <a:pt x="374684" y="83947"/>
                  </a:lnTo>
                  <a:lnTo>
                    <a:pt x="377036" y="91694"/>
                  </a:lnTo>
                  <a:lnTo>
                    <a:pt x="378618" y="99669"/>
                  </a:lnTo>
                  <a:lnTo>
                    <a:pt x="380206" y="107645"/>
                  </a:lnTo>
                  <a:lnTo>
                    <a:pt x="381000" y="115697"/>
                  </a:lnTo>
                  <a:lnTo>
                    <a:pt x="381000" y="123825"/>
                  </a:lnTo>
                  <a:lnTo>
                    <a:pt x="381000" y="257175"/>
                  </a:lnTo>
                  <a:lnTo>
                    <a:pt x="381000" y="265303"/>
                  </a:lnTo>
                  <a:lnTo>
                    <a:pt x="380206" y="273354"/>
                  </a:lnTo>
                  <a:lnTo>
                    <a:pt x="378618" y="281330"/>
                  </a:lnTo>
                  <a:lnTo>
                    <a:pt x="377036" y="289306"/>
                  </a:lnTo>
                  <a:lnTo>
                    <a:pt x="374684" y="297053"/>
                  </a:lnTo>
                  <a:lnTo>
                    <a:pt x="371574" y="304558"/>
                  </a:lnTo>
                  <a:lnTo>
                    <a:pt x="368463" y="312064"/>
                  </a:lnTo>
                  <a:lnTo>
                    <a:pt x="344730" y="344728"/>
                  </a:lnTo>
                  <a:lnTo>
                    <a:pt x="338980" y="350481"/>
                  </a:lnTo>
                  <a:lnTo>
                    <a:pt x="332729" y="355612"/>
                  </a:lnTo>
                  <a:lnTo>
                    <a:pt x="325968" y="360133"/>
                  </a:lnTo>
                  <a:lnTo>
                    <a:pt x="319206" y="364655"/>
                  </a:lnTo>
                  <a:lnTo>
                    <a:pt x="281330" y="378625"/>
                  </a:lnTo>
                  <a:lnTo>
                    <a:pt x="273357" y="380212"/>
                  </a:lnTo>
                  <a:lnTo>
                    <a:pt x="265305" y="381000"/>
                  </a:lnTo>
                  <a:lnTo>
                    <a:pt x="257175" y="381000"/>
                  </a:lnTo>
                  <a:lnTo>
                    <a:pt x="123825" y="381000"/>
                  </a:lnTo>
                  <a:lnTo>
                    <a:pt x="115694" y="381000"/>
                  </a:lnTo>
                  <a:lnTo>
                    <a:pt x="107642" y="380212"/>
                  </a:lnTo>
                  <a:lnTo>
                    <a:pt x="99669" y="378625"/>
                  </a:lnTo>
                  <a:lnTo>
                    <a:pt x="91692" y="377037"/>
                  </a:lnTo>
                  <a:lnTo>
                    <a:pt x="83949" y="374688"/>
                  </a:lnTo>
                  <a:lnTo>
                    <a:pt x="76438" y="371576"/>
                  </a:lnTo>
                  <a:lnTo>
                    <a:pt x="68926" y="368465"/>
                  </a:lnTo>
                  <a:lnTo>
                    <a:pt x="61793" y="364655"/>
                  </a:lnTo>
                  <a:lnTo>
                    <a:pt x="55031" y="360133"/>
                  </a:lnTo>
                  <a:lnTo>
                    <a:pt x="48270" y="355612"/>
                  </a:lnTo>
                  <a:lnTo>
                    <a:pt x="42014" y="350481"/>
                  </a:lnTo>
                  <a:lnTo>
                    <a:pt x="36269" y="344728"/>
                  </a:lnTo>
                  <a:lnTo>
                    <a:pt x="30519" y="338975"/>
                  </a:lnTo>
                  <a:lnTo>
                    <a:pt x="9425" y="304558"/>
                  </a:lnTo>
                  <a:lnTo>
                    <a:pt x="6315" y="297053"/>
                  </a:lnTo>
                  <a:lnTo>
                    <a:pt x="3963" y="289306"/>
                  </a:lnTo>
                  <a:lnTo>
                    <a:pt x="2381" y="281330"/>
                  </a:lnTo>
                  <a:lnTo>
                    <a:pt x="793" y="273354"/>
                  </a:lnTo>
                  <a:lnTo>
                    <a:pt x="0" y="265303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44587" y="3849690"/>
            <a:ext cx="4085590" cy="52257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r">
              <a:spcBef>
                <a:spcPts val="135"/>
              </a:spcBef>
            </a:pPr>
            <a:r>
              <a:rPr lang="he-IL" sz="1600" b="1" dirty="0"/>
              <a:t>חלוקת נתונים למשימות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135"/>
              </a:spcBef>
            </a:pPr>
            <a:r>
              <a:rPr lang="he-IL" sz="1600" dirty="0"/>
              <a:t>אימון, ולידציה ובדיקות על מערכי נתונים נפרדים</a:t>
            </a:r>
            <a:endParaRPr sz="1650" dirty="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19775" y="3810000"/>
            <a:ext cx="390525" cy="390525"/>
            <a:chOff x="5819775" y="3810000"/>
            <a:chExt cx="390525" cy="390525"/>
          </a:xfrm>
        </p:grpSpPr>
        <p:sp>
          <p:nvSpPr>
            <p:cNvPr id="10" name="object 10"/>
            <p:cNvSpPr/>
            <p:nvPr/>
          </p:nvSpPr>
          <p:spPr>
            <a:xfrm>
              <a:off x="5824537" y="38147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57174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7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257174"/>
                  </a:lnTo>
                  <a:lnTo>
                    <a:pt x="9423" y="304558"/>
                  </a:lnTo>
                  <a:lnTo>
                    <a:pt x="36271" y="344728"/>
                  </a:lnTo>
                  <a:lnTo>
                    <a:pt x="76441" y="371576"/>
                  </a:lnTo>
                  <a:lnTo>
                    <a:pt x="123824" y="380999"/>
                  </a:lnTo>
                  <a:lnTo>
                    <a:pt x="257174" y="380999"/>
                  </a:lnTo>
                  <a:lnTo>
                    <a:pt x="304558" y="371576"/>
                  </a:lnTo>
                  <a:lnTo>
                    <a:pt x="344728" y="344728"/>
                  </a:lnTo>
                  <a:lnTo>
                    <a:pt x="371576" y="304558"/>
                  </a:lnTo>
                  <a:lnTo>
                    <a:pt x="380999" y="257174"/>
                  </a:lnTo>
                  <a:lnTo>
                    <a:pt x="380999" y="123824"/>
                  </a:lnTo>
                  <a:lnTo>
                    <a:pt x="371576" y="76441"/>
                  </a:lnTo>
                  <a:lnTo>
                    <a:pt x="344728" y="36271"/>
                  </a:lnTo>
                  <a:lnTo>
                    <a:pt x="304558" y="9423"/>
                  </a:lnTo>
                  <a:lnTo>
                    <a:pt x="257174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9299" y="3819525"/>
              <a:ext cx="371474" cy="3714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824537" y="381476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2571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58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57175" y="0"/>
                  </a:lnTo>
                  <a:lnTo>
                    <a:pt x="265303" y="0"/>
                  </a:lnTo>
                  <a:lnTo>
                    <a:pt x="273354" y="800"/>
                  </a:lnTo>
                  <a:lnTo>
                    <a:pt x="281330" y="2374"/>
                  </a:lnTo>
                  <a:lnTo>
                    <a:pt x="289306" y="3962"/>
                  </a:lnTo>
                  <a:lnTo>
                    <a:pt x="297053" y="6311"/>
                  </a:lnTo>
                  <a:lnTo>
                    <a:pt x="304558" y="9423"/>
                  </a:lnTo>
                  <a:lnTo>
                    <a:pt x="312077" y="12534"/>
                  </a:lnTo>
                  <a:lnTo>
                    <a:pt x="344728" y="36271"/>
                  </a:lnTo>
                  <a:lnTo>
                    <a:pt x="350481" y="42011"/>
                  </a:lnTo>
                  <a:lnTo>
                    <a:pt x="355612" y="48272"/>
                  </a:lnTo>
                  <a:lnTo>
                    <a:pt x="360133" y="55029"/>
                  </a:lnTo>
                  <a:lnTo>
                    <a:pt x="364655" y="61785"/>
                  </a:lnTo>
                  <a:lnTo>
                    <a:pt x="368465" y="68922"/>
                  </a:lnTo>
                  <a:lnTo>
                    <a:pt x="371576" y="76441"/>
                  </a:lnTo>
                  <a:lnTo>
                    <a:pt x="374688" y="83947"/>
                  </a:lnTo>
                  <a:lnTo>
                    <a:pt x="377037" y="91694"/>
                  </a:lnTo>
                  <a:lnTo>
                    <a:pt x="378625" y="99669"/>
                  </a:lnTo>
                  <a:lnTo>
                    <a:pt x="380212" y="107645"/>
                  </a:lnTo>
                  <a:lnTo>
                    <a:pt x="381000" y="115697"/>
                  </a:lnTo>
                  <a:lnTo>
                    <a:pt x="381000" y="123825"/>
                  </a:lnTo>
                  <a:lnTo>
                    <a:pt x="381000" y="257175"/>
                  </a:lnTo>
                  <a:lnTo>
                    <a:pt x="381000" y="265303"/>
                  </a:lnTo>
                  <a:lnTo>
                    <a:pt x="380212" y="273354"/>
                  </a:lnTo>
                  <a:lnTo>
                    <a:pt x="378625" y="281330"/>
                  </a:lnTo>
                  <a:lnTo>
                    <a:pt x="377037" y="289306"/>
                  </a:lnTo>
                  <a:lnTo>
                    <a:pt x="374688" y="297053"/>
                  </a:lnTo>
                  <a:lnTo>
                    <a:pt x="371576" y="304558"/>
                  </a:lnTo>
                  <a:lnTo>
                    <a:pt x="368465" y="312064"/>
                  </a:lnTo>
                  <a:lnTo>
                    <a:pt x="344728" y="344728"/>
                  </a:lnTo>
                  <a:lnTo>
                    <a:pt x="338975" y="350481"/>
                  </a:lnTo>
                  <a:lnTo>
                    <a:pt x="304558" y="371576"/>
                  </a:lnTo>
                  <a:lnTo>
                    <a:pt x="297053" y="374688"/>
                  </a:lnTo>
                  <a:lnTo>
                    <a:pt x="289306" y="377037"/>
                  </a:lnTo>
                  <a:lnTo>
                    <a:pt x="281330" y="378625"/>
                  </a:lnTo>
                  <a:lnTo>
                    <a:pt x="273354" y="380212"/>
                  </a:lnTo>
                  <a:lnTo>
                    <a:pt x="265303" y="381000"/>
                  </a:lnTo>
                  <a:lnTo>
                    <a:pt x="257175" y="381000"/>
                  </a:lnTo>
                  <a:lnTo>
                    <a:pt x="123825" y="381000"/>
                  </a:lnTo>
                  <a:lnTo>
                    <a:pt x="115697" y="381000"/>
                  </a:lnTo>
                  <a:lnTo>
                    <a:pt x="107645" y="380212"/>
                  </a:lnTo>
                  <a:lnTo>
                    <a:pt x="99669" y="378625"/>
                  </a:lnTo>
                  <a:lnTo>
                    <a:pt x="91694" y="377037"/>
                  </a:lnTo>
                  <a:lnTo>
                    <a:pt x="83947" y="374688"/>
                  </a:lnTo>
                  <a:lnTo>
                    <a:pt x="76441" y="371576"/>
                  </a:lnTo>
                  <a:lnTo>
                    <a:pt x="68922" y="368465"/>
                  </a:lnTo>
                  <a:lnTo>
                    <a:pt x="36258" y="344728"/>
                  </a:lnTo>
                  <a:lnTo>
                    <a:pt x="12534" y="312064"/>
                  </a:lnTo>
                  <a:lnTo>
                    <a:pt x="9423" y="304558"/>
                  </a:lnTo>
                  <a:lnTo>
                    <a:pt x="6311" y="297053"/>
                  </a:lnTo>
                  <a:lnTo>
                    <a:pt x="3962" y="289306"/>
                  </a:lnTo>
                  <a:lnTo>
                    <a:pt x="2374" y="281330"/>
                  </a:lnTo>
                  <a:lnTo>
                    <a:pt x="800" y="273354"/>
                  </a:lnTo>
                  <a:lnTo>
                    <a:pt x="0" y="265303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32631" y="3827068"/>
            <a:ext cx="536892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208270" algn="l"/>
              </a:tabLst>
            </a:pPr>
            <a:r>
              <a:rPr lang="he-IL" sz="2000" spc="-590" dirty="0">
                <a:solidFill>
                  <a:srgbClr val="3D3E43"/>
                </a:solidFill>
                <a:latin typeface="Verdana"/>
                <a:cs typeface="Verdana"/>
              </a:rPr>
              <a:t>1</a:t>
            </a:r>
            <a:r>
              <a:rPr lang="he-IL" sz="2000" dirty="0">
                <a:solidFill>
                  <a:srgbClr val="3D3E43"/>
                </a:solidFill>
                <a:latin typeface="Verdana"/>
                <a:cs typeface="Verdana"/>
              </a:rPr>
              <a:t>	</a:t>
            </a:r>
            <a:r>
              <a:rPr lang="he-IL" sz="2000" spc="-60" dirty="0">
                <a:solidFill>
                  <a:srgbClr val="3D3E43"/>
                </a:solidFill>
                <a:latin typeface="Verdana"/>
                <a:cs typeface="Verdana"/>
              </a:rPr>
              <a:t>2</a:t>
            </a:r>
            <a:endParaRPr lang="he-IL" sz="2000" dirty="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6674" y="3849690"/>
            <a:ext cx="4297516" cy="47897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מודל בסיסי</a:t>
            </a:r>
            <a:endParaRPr lang="he-IL" sz="1600" dirty="0"/>
          </a:p>
          <a:p>
            <a:pPr algn="r"/>
            <a:r>
              <a:rPr lang="en-US" sz="1400" dirty="0"/>
              <a:t>Logistic Regression </a:t>
            </a:r>
            <a:r>
              <a:rPr lang="he-IL" sz="1400" dirty="0"/>
              <a:t>כמודל השוואה ראשוני</a:t>
            </a:r>
          </a:p>
        </p:txBody>
      </p:sp>
      <p:grpSp>
        <p:nvGrpSpPr>
          <p:cNvPr id="15" name="object 15"/>
          <p:cNvGrpSpPr/>
          <p:nvPr/>
        </p:nvGrpSpPr>
        <p:grpSpPr>
          <a:xfrm>
            <a:off x="600075" y="4857750"/>
            <a:ext cx="390525" cy="390525"/>
            <a:chOff x="600075" y="4857750"/>
            <a:chExt cx="390525" cy="390525"/>
          </a:xfrm>
        </p:grpSpPr>
        <p:sp>
          <p:nvSpPr>
            <p:cNvPr id="16" name="object 16"/>
            <p:cNvSpPr/>
            <p:nvPr/>
          </p:nvSpPr>
          <p:spPr>
            <a:xfrm>
              <a:off x="604837" y="48625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57174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9" y="45310"/>
                  </a:lnTo>
                  <a:lnTo>
                    <a:pt x="5301" y="87933"/>
                  </a:lnTo>
                  <a:lnTo>
                    <a:pt x="0" y="123824"/>
                  </a:lnTo>
                  <a:lnTo>
                    <a:pt x="0" y="257174"/>
                  </a:lnTo>
                  <a:lnTo>
                    <a:pt x="9425" y="304558"/>
                  </a:lnTo>
                  <a:lnTo>
                    <a:pt x="36269" y="344731"/>
                  </a:lnTo>
                  <a:lnTo>
                    <a:pt x="76452" y="371575"/>
                  </a:lnTo>
                  <a:lnTo>
                    <a:pt x="123824" y="381001"/>
                  </a:lnTo>
                  <a:lnTo>
                    <a:pt x="257174" y="381001"/>
                  </a:lnTo>
                  <a:lnTo>
                    <a:pt x="304562" y="371575"/>
                  </a:lnTo>
                  <a:lnTo>
                    <a:pt x="344730" y="344731"/>
                  </a:lnTo>
                  <a:lnTo>
                    <a:pt x="371574" y="304558"/>
                  </a:lnTo>
                  <a:lnTo>
                    <a:pt x="380999" y="257174"/>
                  </a:lnTo>
                  <a:lnTo>
                    <a:pt x="380999" y="123824"/>
                  </a:lnTo>
                  <a:lnTo>
                    <a:pt x="371574" y="76441"/>
                  </a:lnTo>
                  <a:lnTo>
                    <a:pt x="344730" y="36271"/>
                  </a:lnTo>
                  <a:lnTo>
                    <a:pt x="304562" y="9423"/>
                  </a:lnTo>
                  <a:lnTo>
                    <a:pt x="257174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4867276"/>
              <a:ext cx="371474" cy="3714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04837" y="48625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2571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257175" y="0"/>
                  </a:lnTo>
                  <a:lnTo>
                    <a:pt x="265305" y="0"/>
                  </a:lnTo>
                  <a:lnTo>
                    <a:pt x="273357" y="800"/>
                  </a:lnTo>
                  <a:lnTo>
                    <a:pt x="312073" y="12534"/>
                  </a:lnTo>
                  <a:lnTo>
                    <a:pt x="344730" y="36271"/>
                  </a:lnTo>
                  <a:lnTo>
                    <a:pt x="350480" y="42011"/>
                  </a:lnTo>
                  <a:lnTo>
                    <a:pt x="355615" y="48272"/>
                  </a:lnTo>
                  <a:lnTo>
                    <a:pt x="360128" y="55029"/>
                  </a:lnTo>
                  <a:lnTo>
                    <a:pt x="364648" y="61785"/>
                  </a:lnTo>
                  <a:lnTo>
                    <a:pt x="368463" y="68922"/>
                  </a:lnTo>
                  <a:lnTo>
                    <a:pt x="371574" y="76441"/>
                  </a:lnTo>
                  <a:lnTo>
                    <a:pt x="374684" y="83947"/>
                  </a:lnTo>
                  <a:lnTo>
                    <a:pt x="377036" y="91694"/>
                  </a:lnTo>
                  <a:lnTo>
                    <a:pt x="378618" y="99669"/>
                  </a:lnTo>
                  <a:lnTo>
                    <a:pt x="380206" y="107645"/>
                  </a:lnTo>
                  <a:lnTo>
                    <a:pt x="381000" y="115697"/>
                  </a:lnTo>
                  <a:lnTo>
                    <a:pt x="381000" y="123825"/>
                  </a:lnTo>
                  <a:lnTo>
                    <a:pt x="381000" y="257175"/>
                  </a:lnTo>
                  <a:lnTo>
                    <a:pt x="381000" y="265303"/>
                  </a:lnTo>
                  <a:lnTo>
                    <a:pt x="380206" y="273354"/>
                  </a:lnTo>
                  <a:lnTo>
                    <a:pt x="378618" y="281330"/>
                  </a:lnTo>
                  <a:lnTo>
                    <a:pt x="377036" y="289306"/>
                  </a:lnTo>
                  <a:lnTo>
                    <a:pt x="374684" y="297053"/>
                  </a:lnTo>
                  <a:lnTo>
                    <a:pt x="371574" y="304558"/>
                  </a:lnTo>
                  <a:lnTo>
                    <a:pt x="368463" y="312068"/>
                  </a:lnTo>
                  <a:lnTo>
                    <a:pt x="364648" y="319208"/>
                  </a:lnTo>
                  <a:lnTo>
                    <a:pt x="360128" y="325969"/>
                  </a:lnTo>
                  <a:lnTo>
                    <a:pt x="355615" y="332726"/>
                  </a:lnTo>
                  <a:lnTo>
                    <a:pt x="350480" y="338982"/>
                  </a:lnTo>
                  <a:lnTo>
                    <a:pt x="344730" y="344731"/>
                  </a:lnTo>
                  <a:lnTo>
                    <a:pt x="338980" y="350481"/>
                  </a:lnTo>
                  <a:lnTo>
                    <a:pt x="304562" y="371570"/>
                  </a:lnTo>
                  <a:lnTo>
                    <a:pt x="297050" y="374685"/>
                  </a:lnTo>
                  <a:lnTo>
                    <a:pt x="289307" y="377032"/>
                  </a:lnTo>
                  <a:lnTo>
                    <a:pt x="281330" y="378620"/>
                  </a:lnTo>
                  <a:lnTo>
                    <a:pt x="273357" y="380207"/>
                  </a:lnTo>
                  <a:lnTo>
                    <a:pt x="265305" y="381001"/>
                  </a:lnTo>
                  <a:lnTo>
                    <a:pt x="257175" y="381001"/>
                  </a:lnTo>
                  <a:lnTo>
                    <a:pt x="123825" y="381001"/>
                  </a:lnTo>
                  <a:lnTo>
                    <a:pt x="115694" y="381001"/>
                  </a:lnTo>
                  <a:lnTo>
                    <a:pt x="107642" y="380207"/>
                  </a:lnTo>
                  <a:lnTo>
                    <a:pt x="99669" y="378620"/>
                  </a:lnTo>
                  <a:lnTo>
                    <a:pt x="91692" y="377032"/>
                  </a:lnTo>
                  <a:lnTo>
                    <a:pt x="83949" y="374685"/>
                  </a:lnTo>
                  <a:lnTo>
                    <a:pt x="76438" y="371570"/>
                  </a:lnTo>
                  <a:lnTo>
                    <a:pt x="68926" y="368460"/>
                  </a:lnTo>
                  <a:lnTo>
                    <a:pt x="36269" y="344731"/>
                  </a:lnTo>
                  <a:lnTo>
                    <a:pt x="30519" y="338982"/>
                  </a:lnTo>
                  <a:lnTo>
                    <a:pt x="9425" y="304558"/>
                  </a:lnTo>
                  <a:lnTo>
                    <a:pt x="6315" y="297053"/>
                  </a:lnTo>
                  <a:lnTo>
                    <a:pt x="3963" y="289306"/>
                  </a:lnTo>
                  <a:lnTo>
                    <a:pt x="2381" y="281330"/>
                  </a:lnTo>
                  <a:lnTo>
                    <a:pt x="793" y="273354"/>
                  </a:lnTo>
                  <a:lnTo>
                    <a:pt x="0" y="265303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06586" y="4874818"/>
            <a:ext cx="17272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65" dirty="0">
                <a:solidFill>
                  <a:srgbClr val="3D3E43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4374" y="4897440"/>
            <a:ext cx="4197985" cy="61234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מודלים מתקדמים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1095"/>
              </a:spcBef>
            </a:pP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Random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3D3E43"/>
                </a:solidFill>
                <a:latin typeface="Verdana"/>
                <a:cs typeface="Verdana"/>
              </a:rPr>
              <a:t>Forest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3D3E43"/>
                </a:solidFill>
                <a:latin typeface="Verdana"/>
                <a:cs typeface="Verdana"/>
              </a:rPr>
              <a:t>XGBoost</a:t>
            </a: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for</a:t>
            </a: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3D3E43"/>
                </a:solidFill>
                <a:latin typeface="Verdana"/>
                <a:cs typeface="Verdana"/>
              </a:rPr>
              <a:t>enhanced</a:t>
            </a: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accuracy</a:t>
            </a:r>
            <a:endParaRPr sz="1350" dirty="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19775" y="4857750"/>
            <a:ext cx="390525" cy="390525"/>
            <a:chOff x="5819775" y="4857750"/>
            <a:chExt cx="390525" cy="390525"/>
          </a:xfrm>
        </p:grpSpPr>
        <p:sp>
          <p:nvSpPr>
            <p:cNvPr id="22" name="object 22"/>
            <p:cNvSpPr/>
            <p:nvPr/>
          </p:nvSpPr>
          <p:spPr>
            <a:xfrm>
              <a:off x="5824537" y="48625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257174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7" y="45310"/>
                  </a:lnTo>
                  <a:lnTo>
                    <a:pt x="5298" y="87933"/>
                  </a:lnTo>
                  <a:lnTo>
                    <a:pt x="0" y="123824"/>
                  </a:lnTo>
                  <a:lnTo>
                    <a:pt x="0" y="257174"/>
                  </a:lnTo>
                  <a:lnTo>
                    <a:pt x="9423" y="304558"/>
                  </a:lnTo>
                  <a:lnTo>
                    <a:pt x="36271" y="344731"/>
                  </a:lnTo>
                  <a:lnTo>
                    <a:pt x="76455" y="371575"/>
                  </a:lnTo>
                  <a:lnTo>
                    <a:pt x="123824" y="381001"/>
                  </a:lnTo>
                  <a:lnTo>
                    <a:pt x="257174" y="381001"/>
                  </a:lnTo>
                  <a:lnTo>
                    <a:pt x="304558" y="371575"/>
                  </a:lnTo>
                  <a:lnTo>
                    <a:pt x="344728" y="344731"/>
                  </a:lnTo>
                  <a:lnTo>
                    <a:pt x="371576" y="304558"/>
                  </a:lnTo>
                  <a:lnTo>
                    <a:pt x="380999" y="257174"/>
                  </a:lnTo>
                  <a:lnTo>
                    <a:pt x="380999" y="123824"/>
                  </a:lnTo>
                  <a:lnTo>
                    <a:pt x="371576" y="76441"/>
                  </a:lnTo>
                  <a:lnTo>
                    <a:pt x="344728" y="36271"/>
                  </a:lnTo>
                  <a:lnTo>
                    <a:pt x="304558" y="9423"/>
                  </a:lnTo>
                  <a:lnTo>
                    <a:pt x="257174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9299" y="4867276"/>
              <a:ext cx="371474" cy="3714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824537" y="48625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25717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800" y="107645"/>
                  </a:lnTo>
                  <a:lnTo>
                    <a:pt x="2374" y="99669"/>
                  </a:lnTo>
                  <a:lnTo>
                    <a:pt x="3962" y="91694"/>
                  </a:lnTo>
                  <a:lnTo>
                    <a:pt x="6311" y="83947"/>
                  </a:lnTo>
                  <a:lnTo>
                    <a:pt x="9423" y="76441"/>
                  </a:lnTo>
                  <a:lnTo>
                    <a:pt x="12534" y="68922"/>
                  </a:lnTo>
                  <a:lnTo>
                    <a:pt x="36258" y="36271"/>
                  </a:lnTo>
                  <a:lnTo>
                    <a:pt x="42011" y="30518"/>
                  </a:lnTo>
                  <a:lnTo>
                    <a:pt x="76441" y="9423"/>
                  </a:lnTo>
                  <a:lnTo>
                    <a:pt x="83947" y="6311"/>
                  </a:lnTo>
                  <a:lnTo>
                    <a:pt x="91694" y="3962"/>
                  </a:lnTo>
                  <a:lnTo>
                    <a:pt x="99669" y="2374"/>
                  </a:lnTo>
                  <a:lnTo>
                    <a:pt x="107645" y="800"/>
                  </a:lnTo>
                  <a:lnTo>
                    <a:pt x="115697" y="0"/>
                  </a:lnTo>
                  <a:lnTo>
                    <a:pt x="123825" y="0"/>
                  </a:lnTo>
                  <a:lnTo>
                    <a:pt x="257175" y="0"/>
                  </a:lnTo>
                  <a:lnTo>
                    <a:pt x="265303" y="0"/>
                  </a:lnTo>
                  <a:lnTo>
                    <a:pt x="273354" y="800"/>
                  </a:lnTo>
                  <a:lnTo>
                    <a:pt x="281330" y="2374"/>
                  </a:lnTo>
                  <a:lnTo>
                    <a:pt x="289306" y="3962"/>
                  </a:lnTo>
                  <a:lnTo>
                    <a:pt x="297053" y="6311"/>
                  </a:lnTo>
                  <a:lnTo>
                    <a:pt x="304558" y="9423"/>
                  </a:lnTo>
                  <a:lnTo>
                    <a:pt x="312077" y="12534"/>
                  </a:lnTo>
                  <a:lnTo>
                    <a:pt x="344728" y="36271"/>
                  </a:lnTo>
                  <a:lnTo>
                    <a:pt x="350481" y="42011"/>
                  </a:lnTo>
                  <a:lnTo>
                    <a:pt x="355612" y="48272"/>
                  </a:lnTo>
                  <a:lnTo>
                    <a:pt x="360133" y="55029"/>
                  </a:lnTo>
                  <a:lnTo>
                    <a:pt x="364655" y="61785"/>
                  </a:lnTo>
                  <a:lnTo>
                    <a:pt x="368465" y="68922"/>
                  </a:lnTo>
                  <a:lnTo>
                    <a:pt x="371576" y="76441"/>
                  </a:lnTo>
                  <a:lnTo>
                    <a:pt x="374688" y="83947"/>
                  </a:lnTo>
                  <a:lnTo>
                    <a:pt x="377037" y="91694"/>
                  </a:lnTo>
                  <a:lnTo>
                    <a:pt x="378625" y="99669"/>
                  </a:lnTo>
                  <a:lnTo>
                    <a:pt x="380212" y="107645"/>
                  </a:lnTo>
                  <a:lnTo>
                    <a:pt x="381000" y="115697"/>
                  </a:lnTo>
                  <a:lnTo>
                    <a:pt x="381000" y="123825"/>
                  </a:lnTo>
                  <a:lnTo>
                    <a:pt x="381000" y="257175"/>
                  </a:lnTo>
                  <a:lnTo>
                    <a:pt x="381000" y="265303"/>
                  </a:lnTo>
                  <a:lnTo>
                    <a:pt x="380212" y="273354"/>
                  </a:lnTo>
                  <a:lnTo>
                    <a:pt x="378625" y="281330"/>
                  </a:lnTo>
                  <a:lnTo>
                    <a:pt x="377037" y="289306"/>
                  </a:lnTo>
                  <a:lnTo>
                    <a:pt x="374688" y="297053"/>
                  </a:lnTo>
                  <a:lnTo>
                    <a:pt x="371576" y="304558"/>
                  </a:lnTo>
                  <a:lnTo>
                    <a:pt x="368465" y="312068"/>
                  </a:lnTo>
                  <a:lnTo>
                    <a:pt x="344728" y="344731"/>
                  </a:lnTo>
                  <a:lnTo>
                    <a:pt x="338975" y="350481"/>
                  </a:lnTo>
                  <a:lnTo>
                    <a:pt x="304558" y="371570"/>
                  </a:lnTo>
                  <a:lnTo>
                    <a:pt x="297053" y="374685"/>
                  </a:lnTo>
                  <a:lnTo>
                    <a:pt x="289306" y="377032"/>
                  </a:lnTo>
                  <a:lnTo>
                    <a:pt x="281330" y="378620"/>
                  </a:lnTo>
                  <a:lnTo>
                    <a:pt x="273354" y="380207"/>
                  </a:lnTo>
                  <a:lnTo>
                    <a:pt x="265303" y="381001"/>
                  </a:lnTo>
                  <a:lnTo>
                    <a:pt x="257175" y="381001"/>
                  </a:lnTo>
                  <a:lnTo>
                    <a:pt x="123825" y="381001"/>
                  </a:lnTo>
                  <a:lnTo>
                    <a:pt x="115697" y="381001"/>
                  </a:lnTo>
                  <a:lnTo>
                    <a:pt x="107645" y="380207"/>
                  </a:lnTo>
                  <a:lnTo>
                    <a:pt x="99669" y="378620"/>
                  </a:lnTo>
                  <a:lnTo>
                    <a:pt x="91694" y="377032"/>
                  </a:lnTo>
                  <a:lnTo>
                    <a:pt x="83947" y="374685"/>
                  </a:lnTo>
                  <a:lnTo>
                    <a:pt x="76441" y="371570"/>
                  </a:lnTo>
                  <a:lnTo>
                    <a:pt x="68922" y="368460"/>
                  </a:lnTo>
                  <a:lnTo>
                    <a:pt x="36258" y="344731"/>
                  </a:lnTo>
                  <a:lnTo>
                    <a:pt x="12534" y="312068"/>
                  </a:lnTo>
                  <a:lnTo>
                    <a:pt x="9423" y="304558"/>
                  </a:lnTo>
                  <a:lnTo>
                    <a:pt x="6311" y="297053"/>
                  </a:lnTo>
                  <a:lnTo>
                    <a:pt x="3962" y="289306"/>
                  </a:lnTo>
                  <a:lnTo>
                    <a:pt x="2374" y="281330"/>
                  </a:lnTo>
                  <a:lnTo>
                    <a:pt x="800" y="273354"/>
                  </a:lnTo>
                  <a:lnTo>
                    <a:pt x="0" y="265303"/>
                  </a:lnTo>
                  <a:lnTo>
                    <a:pt x="0" y="257175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916167" y="4874818"/>
            <a:ext cx="197485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25" dirty="0">
                <a:solidFill>
                  <a:srgbClr val="3D3E43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66674" y="4897440"/>
            <a:ext cx="4279265" cy="61234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כיוונון היפר-פרמטרים ולידציה</a:t>
            </a:r>
            <a:endParaRPr lang="he-IL" sz="1600" dirty="0"/>
          </a:p>
          <a:p>
            <a:pPr marL="12700" algn="r">
              <a:lnSpc>
                <a:spcPct val="100000"/>
              </a:lnSpc>
              <a:spcBef>
                <a:spcPts val="1095"/>
              </a:spcBef>
            </a:pP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Grid/Random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3D3E43"/>
                </a:solidFill>
                <a:latin typeface="Verdana"/>
                <a:cs typeface="Verdana"/>
              </a:rPr>
              <a:t>Search</a:t>
            </a: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3D3E43"/>
                </a:solidFill>
                <a:latin typeface="Verdana"/>
                <a:cs typeface="Verdana"/>
              </a:rPr>
              <a:t>and</a:t>
            </a:r>
            <a:r>
              <a:rPr sz="1350" spc="-7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3D3E43"/>
                </a:solidFill>
                <a:latin typeface="Verdana"/>
                <a:cs typeface="Verdana"/>
              </a:rPr>
              <a:t>Error</a:t>
            </a:r>
            <a:r>
              <a:rPr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Analysis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6948" y="720725"/>
            <a:ext cx="5621655" cy="111440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algn="r"/>
            <a:r>
              <a:rPr lang="he-IL" sz="3600" b="1" dirty="0"/>
              <a:t>שלב 6: עוזר </a:t>
            </a:r>
            <a:r>
              <a:rPr lang="he-IL" sz="3600" b="1" dirty="0" err="1"/>
              <a:t>צ'אטבוט</a:t>
            </a:r>
            <a:r>
              <a:rPr lang="he-IL" sz="3600" b="1" dirty="0"/>
              <a:t> בזמן אמת</a:t>
            </a:r>
            <a:endParaRPr lang="he-IL" sz="3600" dirty="0"/>
          </a:p>
        </p:txBody>
      </p:sp>
      <p:grpSp>
        <p:nvGrpSpPr>
          <p:cNvPr id="6" name="object 6"/>
          <p:cNvGrpSpPr/>
          <p:nvPr/>
        </p:nvGrpSpPr>
        <p:grpSpPr>
          <a:xfrm>
            <a:off x="600075" y="3695700"/>
            <a:ext cx="5943600" cy="2000250"/>
            <a:chOff x="600075" y="3695700"/>
            <a:chExt cx="5943600" cy="2000250"/>
          </a:xfrm>
        </p:grpSpPr>
        <p:sp>
          <p:nvSpPr>
            <p:cNvPr id="7" name="object 7"/>
            <p:cNvSpPr/>
            <p:nvPr/>
          </p:nvSpPr>
          <p:spPr>
            <a:xfrm>
              <a:off x="604837" y="3700462"/>
              <a:ext cx="5934075" cy="1990725"/>
            </a:xfrm>
            <a:custGeom>
              <a:avLst/>
              <a:gdLst/>
              <a:ahLst/>
              <a:cxnLst/>
              <a:rect l="l" t="t" r="r" b="b"/>
              <a:pathLst>
                <a:path w="5934075" h="1990725">
                  <a:moveTo>
                    <a:pt x="5810249" y="0"/>
                  </a:moveTo>
                  <a:lnTo>
                    <a:pt x="123824" y="0"/>
                  </a:lnTo>
                  <a:lnTo>
                    <a:pt x="111626" y="588"/>
                  </a:lnTo>
                  <a:lnTo>
                    <a:pt x="65394" y="14636"/>
                  </a:lnTo>
                  <a:lnTo>
                    <a:pt x="28059" y="45310"/>
                  </a:lnTo>
                  <a:lnTo>
                    <a:pt x="5301" y="87933"/>
                  </a:lnTo>
                  <a:lnTo>
                    <a:pt x="0" y="123824"/>
                  </a:lnTo>
                  <a:lnTo>
                    <a:pt x="0" y="1866901"/>
                  </a:lnTo>
                  <a:lnTo>
                    <a:pt x="9425" y="1914282"/>
                  </a:lnTo>
                  <a:lnTo>
                    <a:pt x="36269" y="1954456"/>
                  </a:lnTo>
                  <a:lnTo>
                    <a:pt x="76438" y="1981295"/>
                  </a:lnTo>
                  <a:lnTo>
                    <a:pt x="123824" y="1990726"/>
                  </a:lnTo>
                  <a:lnTo>
                    <a:pt x="5810249" y="1990726"/>
                  </a:lnTo>
                  <a:lnTo>
                    <a:pt x="5857633" y="1981295"/>
                  </a:lnTo>
                  <a:lnTo>
                    <a:pt x="5897803" y="1954456"/>
                  </a:lnTo>
                  <a:lnTo>
                    <a:pt x="5924651" y="1914282"/>
                  </a:lnTo>
                  <a:lnTo>
                    <a:pt x="5934074" y="1866901"/>
                  </a:lnTo>
                  <a:lnTo>
                    <a:pt x="5934074" y="123824"/>
                  </a:lnTo>
                  <a:lnTo>
                    <a:pt x="5924651" y="76441"/>
                  </a:lnTo>
                  <a:lnTo>
                    <a:pt x="5897803" y="36271"/>
                  </a:lnTo>
                  <a:lnTo>
                    <a:pt x="5857633" y="9423"/>
                  </a:lnTo>
                  <a:lnTo>
                    <a:pt x="5810249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599" y="3705226"/>
              <a:ext cx="5924549" cy="19811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04837" y="3700462"/>
              <a:ext cx="5934075" cy="1990725"/>
            </a:xfrm>
            <a:custGeom>
              <a:avLst/>
              <a:gdLst/>
              <a:ahLst/>
              <a:cxnLst/>
              <a:rect l="l" t="t" r="r" b="b"/>
              <a:pathLst>
                <a:path w="5934075" h="1990725">
                  <a:moveTo>
                    <a:pt x="0" y="1866901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85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800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5810250" y="0"/>
                  </a:lnTo>
                  <a:lnTo>
                    <a:pt x="5818378" y="0"/>
                  </a:lnTo>
                  <a:lnTo>
                    <a:pt x="5826429" y="800"/>
                  </a:lnTo>
                  <a:lnTo>
                    <a:pt x="5834405" y="2374"/>
                  </a:lnTo>
                  <a:lnTo>
                    <a:pt x="5842381" y="3962"/>
                  </a:lnTo>
                  <a:lnTo>
                    <a:pt x="5850128" y="6311"/>
                  </a:lnTo>
                  <a:lnTo>
                    <a:pt x="5857633" y="9423"/>
                  </a:lnTo>
                  <a:lnTo>
                    <a:pt x="5865152" y="12534"/>
                  </a:lnTo>
                  <a:lnTo>
                    <a:pt x="5897803" y="36271"/>
                  </a:lnTo>
                  <a:lnTo>
                    <a:pt x="5903556" y="42011"/>
                  </a:lnTo>
                  <a:lnTo>
                    <a:pt x="5908687" y="48272"/>
                  </a:lnTo>
                  <a:lnTo>
                    <a:pt x="5913208" y="55029"/>
                  </a:lnTo>
                  <a:lnTo>
                    <a:pt x="5917730" y="61785"/>
                  </a:lnTo>
                  <a:lnTo>
                    <a:pt x="5921540" y="68922"/>
                  </a:lnTo>
                  <a:lnTo>
                    <a:pt x="5924651" y="76441"/>
                  </a:lnTo>
                  <a:lnTo>
                    <a:pt x="5927763" y="83947"/>
                  </a:lnTo>
                  <a:lnTo>
                    <a:pt x="5930112" y="91694"/>
                  </a:lnTo>
                  <a:lnTo>
                    <a:pt x="5931700" y="99669"/>
                  </a:lnTo>
                  <a:lnTo>
                    <a:pt x="5933287" y="107645"/>
                  </a:lnTo>
                  <a:lnTo>
                    <a:pt x="5934075" y="115697"/>
                  </a:lnTo>
                  <a:lnTo>
                    <a:pt x="5934075" y="123825"/>
                  </a:lnTo>
                  <a:lnTo>
                    <a:pt x="5934075" y="1866901"/>
                  </a:lnTo>
                  <a:lnTo>
                    <a:pt x="5934075" y="1875026"/>
                  </a:lnTo>
                  <a:lnTo>
                    <a:pt x="5933287" y="1883083"/>
                  </a:lnTo>
                  <a:lnTo>
                    <a:pt x="5931700" y="1891055"/>
                  </a:lnTo>
                  <a:lnTo>
                    <a:pt x="5930112" y="1899028"/>
                  </a:lnTo>
                  <a:lnTo>
                    <a:pt x="5927763" y="1906771"/>
                  </a:lnTo>
                  <a:lnTo>
                    <a:pt x="5924651" y="1914282"/>
                  </a:lnTo>
                  <a:lnTo>
                    <a:pt x="5921540" y="1921793"/>
                  </a:lnTo>
                  <a:lnTo>
                    <a:pt x="5897803" y="1954456"/>
                  </a:lnTo>
                  <a:lnTo>
                    <a:pt x="5892050" y="1960206"/>
                  </a:lnTo>
                  <a:lnTo>
                    <a:pt x="5857633" y="1981300"/>
                  </a:lnTo>
                  <a:lnTo>
                    <a:pt x="5850128" y="1984410"/>
                  </a:lnTo>
                  <a:lnTo>
                    <a:pt x="5842381" y="1986757"/>
                  </a:lnTo>
                  <a:lnTo>
                    <a:pt x="5834405" y="1988345"/>
                  </a:lnTo>
                  <a:lnTo>
                    <a:pt x="5826429" y="1989932"/>
                  </a:lnTo>
                  <a:lnTo>
                    <a:pt x="5818378" y="1990726"/>
                  </a:lnTo>
                  <a:lnTo>
                    <a:pt x="5810250" y="1990726"/>
                  </a:lnTo>
                  <a:lnTo>
                    <a:pt x="123825" y="1990726"/>
                  </a:lnTo>
                  <a:lnTo>
                    <a:pt x="115694" y="1990726"/>
                  </a:lnTo>
                  <a:lnTo>
                    <a:pt x="107642" y="1989932"/>
                  </a:lnTo>
                  <a:lnTo>
                    <a:pt x="99669" y="1988345"/>
                  </a:lnTo>
                  <a:lnTo>
                    <a:pt x="91692" y="1986757"/>
                  </a:lnTo>
                  <a:lnTo>
                    <a:pt x="55031" y="1969855"/>
                  </a:lnTo>
                  <a:lnTo>
                    <a:pt x="48270" y="1965340"/>
                  </a:lnTo>
                  <a:lnTo>
                    <a:pt x="42014" y="1960206"/>
                  </a:lnTo>
                  <a:lnTo>
                    <a:pt x="36269" y="1954456"/>
                  </a:lnTo>
                  <a:lnTo>
                    <a:pt x="30519" y="1948707"/>
                  </a:lnTo>
                  <a:lnTo>
                    <a:pt x="9425" y="1914282"/>
                  </a:lnTo>
                  <a:lnTo>
                    <a:pt x="6315" y="1906771"/>
                  </a:lnTo>
                  <a:lnTo>
                    <a:pt x="3963" y="1899028"/>
                  </a:lnTo>
                  <a:lnTo>
                    <a:pt x="2381" y="1891055"/>
                  </a:lnTo>
                  <a:lnTo>
                    <a:pt x="793" y="1883083"/>
                  </a:lnTo>
                  <a:lnTo>
                    <a:pt x="0" y="1875026"/>
                  </a:lnTo>
                  <a:lnTo>
                    <a:pt x="0" y="1866901"/>
                  </a:lnTo>
                  <a:close/>
                </a:path>
              </a:pathLst>
            </a:custGeom>
            <a:ln w="9525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600" y="3705237"/>
              <a:ext cx="5924550" cy="1981200"/>
            </a:xfrm>
            <a:custGeom>
              <a:avLst/>
              <a:gdLst/>
              <a:ahLst/>
              <a:cxnLst/>
              <a:rect l="l" t="t" r="r" b="b"/>
              <a:pathLst>
                <a:path w="5924550" h="1981200">
                  <a:moveTo>
                    <a:pt x="5924550" y="120129"/>
                  </a:moveTo>
                  <a:lnTo>
                    <a:pt x="5911532" y="71564"/>
                  </a:lnTo>
                  <a:lnTo>
                    <a:pt x="5880913" y="31673"/>
                  </a:lnTo>
                  <a:lnTo>
                    <a:pt x="5837364" y="6540"/>
                  </a:lnTo>
                  <a:lnTo>
                    <a:pt x="5804395" y="0"/>
                  </a:lnTo>
                  <a:lnTo>
                    <a:pt x="120142" y="0"/>
                  </a:lnTo>
                  <a:lnTo>
                    <a:pt x="71564" y="13017"/>
                  </a:lnTo>
                  <a:lnTo>
                    <a:pt x="31686" y="43624"/>
                  </a:lnTo>
                  <a:lnTo>
                    <a:pt x="6553" y="87172"/>
                  </a:lnTo>
                  <a:lnTo>
                    <a:pt x="0" y="120129"/>
                  </a:lnTo>
                  <a:lnTo>
                    <a:pt x="0" y="990587"/>
                  </a:lnTo>
                  <a:lnTo>
                    <a:pt x="0" y="1852612"/>
                  </a:lnTo>
                  <a:lnTo>
                    <a:pt x="0" y="1861045"/>
                  </a:lnTo>
                  <a:lnTo>
                    <a:pt x="812" y="1869414"/>
                  </a:lnTo>
                  <a:lnTo>
                    <a:pt x="13017" y="1909610"/>
                  </a:lnTo>
                  <a:lnTo>
                    <a:pt x="43624" y="1949500"/>
                  </a:lnTo>
                  <a:lnTo>
                    <a:pt x="87172" y="1974634"/>
                  </a:lnTo>
                  <a:lnTo>
                    <a:pt x="120142" y="1981200"/>
                  </a:lnTo>
                  <a:lnTo>
                    <a:pt x="5804395" y="1981200"/>
                  </a:lnTo>
                  <a:lnTo>
                    <a:pt x="5852973" y="1968169"/>
                  </a:lnTo>
                  <a:lnTo>
                    <a:pt x="5892851" y="1937562"/>
                  </a:lnTo>
                  <a:lnTo>
                    <a:pt x="5917997" y="1894014"/>
                  </a:lnTo>
                  <a:lnTo>
                    <a:pt x="5924550" y="1861045"/>
                  </a:lnTo>
                  <a:lnTo>
                    <a:pt x="5924550" y="990587"/>
                  </a:lnTo>
                  <a:lnTo>
                    <a:pt x="5924550" y="120129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9600" y="4695825"/>
              <a:ext cx="5924550" cy="19050"/>
            </a:xfrm>
            <a:custGeom>
              <a:avLst/>
              <a:gdLst/>
              <a:ahLst/>
              <a:cxnLst/>
              <a:rect l="l" t="t" r="r" b="b"/>
              <a:pathLst>
                <a:path w="5924550" h="19050">
                  <a:moveTo>
                    <a:pt x="59176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917653" y="19050"/>
                  </a:lnTo>
                  <a:lnTo>
                    <a:pt x="5919901" y="18122"/>
                  </a:lnTo>
                  <a:lnTo>
                    <a:pt x="5923622" y="14401"/>
                  </a:lnTo>
                  <a:lnTo>
                    <a:pt x="5924550" y="12153"/>
                  </a:lnTo>
                  <a:lnTo>
                    <a:pt x="5924550" y="6896"/>
                  </a:lnTo>
                  <a:lnTo>
                    <a:pt x="5923622" y="4648"/>
                  </a:lnTo>
                  <a:lnTo>
                    <a:pt x="5919901" y="927"/>
                  </a:lnTo>
                  <a:lnTo>
                    <a:pt x="5917653" y="0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87375" y="1868487"/>
            <a:ext cx="5925185" cy="35175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1600" b="1" dirty="0"/>
              <a:t>מטרת המערכת</a:t>
            </a:r>
            <a:endParaRPr lang="he-IL" sz="1600" dirty="0"/>
          </a:p>
          <a:p>
            <a:pPr marR="0" lvl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e-IL" sz="1350" spc="-7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endParaRPr kumimoji="0" lang="he-IL" altLang="he-IL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פיתוח עוזר תקשורת אינטראקטיבי המספק המלצות לפסקי זמן בזמן אמת במהלך משחקים חיים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המודל לומד דפוסי פסקי זמן אופטימליים מנתוני עבר ומסיק תחזיות בזמן אמת כאשר המאמן מספק נתוני משחק נוכחיים</a:t>
            </a:r>
            <a:r>
              <a:rPr kumimoji="0" lang="he-IL" altLang="he-IL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2700" marR="5080" algn="r">
              <a:lnSpc>
                <a:spcPct val="132700"/>
              </a:lnSpc>
              <a:spcBef>
                <a:spcPts val="1764"/>
              </a:spcBef>
            </a:pPr>
            <a:endParaRPr sz="1350" dirty="0">
              <a:latin typeface="Verdana"/>
              <a:cs typeface="Verdana"/>
            </a:endParaRPr>
          </a:p>
          <a:p>
            <a:pPr algn="r">
              <a:lnSpc>
                <a:spcPct val="100000"/>
              </a:lnSpc>
              <a:spcBef>
                <a:spcPts val="50"/>
              </a:spcBef>
            </a:pPr>
            <a:endParaRPr sz="1350" dirty="0">
              <a:latin typeface="Verdana"/>
              <a:cs typeface="Verdana"/>
            </a:endParaRPr>
          </a:p>
          <a:p>
            <a:pPr algn="r"/>
            <a:r>
              <a:rPr lang="he-IL" sz="1600" b="1" dirty="0"/>
              <a:t>שלב 1: אימון</a:t>
            </a:r>
            <a:endParaRPr lang="he-IL" sz="1600" dirty="0"/>
          </a:p>
          <a:p>
            <a:pPr algn="r"/>
            <a:r>
              <a:rPr lang="he-IL" sz="1400" dirty="0"/>
              <a:t>למידה לא מקוונת</a:t>
            </a:r>
            <a:endParaRPr lang="en-US" sz="1400" dirty="0"/>
          </a:p>
          <a:p>
            <a:pPr algn="r">
              <a:lnSpc>
                <a:spcPct val="100000"/>
              </a:lnSpc>
              <a:spcBef>
                <a:spcPts val="1465"/>
              </a:spcBef>
            </a:pPr>
            <a:endParaRPr sz="1350" dirty="0">
              <a:latin typeface="Verdana"/>
              <a:cs typeface="Verdana"/>
            </a:endParaRPr>
          </a:p>
          <a:p>
            <a:pPr algn="r"/>
            <a:r>
              <a:rPr lang="he-IL" sz="1600" b="1" dirty="0"/>
              <a:t>שלב 2: חיזוי</a:t>
            </a:r>
            <a:endParaRPr lang="he-IL" sz="1600" dirty="0"/>
          </a:p>
          <a:p>
            <a:pPr marL="193675" algn="l">
              <a:lnSpc>
                <a:spcPct val="100000"/>
              </a:lnSpc>
              <a:spcBef>
                <a:spcPts val="1095"/>
              </a:spcBef>
            </a:pPr>
            <a:r>
              <a:rPr sz="1350" spc="-65" dirty="0">
                <a:solidFill>
                  <a:srgbClr val="3D3E43"/>
                </a:solidFill>
                <a:latin typeface="Verdana"/>
                <a:cs typeface="Verdana"/>
              </a:rPr>
              <a:t>Real-</a:t>
            </a:r>
            <a:r>
              <a:rPr sz="1350" spc="-85" dirty="0">
                <a:solidFill>
                  <a:srgbClr val="3D3E43"/>
                </a:solidFill>
                <a:latin typeface="Verdana"/>
                <a:cs typeface="Verdana"/>
              </a:rPr>
              <a:t>time</a:t>
            </a:r>
            <a:r>
              <a:rPr sz="1350" spc="-3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3D3E43"/>
                </a:solidFill>
                <a:latin typeface="Verdana"/>
                <a:cs typeface="Verdana"/>
              </a:rPr>
              <a:t>Inference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489952"/>
            <a:ext cx="6556375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r"/>
            <a:r>
              <a:rPr lang="he-IL" sz="3600" b="1" dirty="0"/>
              <a:t>ממשק משתמש של </a:t>
            </a:r>
            <a:r>
              <a:rPr lang="he-IL" sz="3600" b="1" dirty="0" err="1"/>
              <a:t>הצ'אטבוט</a:t>
            </a:r>
            <a:endParaRPr lang="he-IL" sz="3600" dirty="0"/>
          </a:p>
        </p:txBody>
      </p:sp>
      <p:sp>
        <p:nvSpPr>
          <p:cNvPr id="4" name="object 4"/>
          <p:cNvSpPr/>
          <p:nvPr/>
        </p:nvSpPr>
        <p:spPr>
          <a:xfrm rot="10800000">
            <a:off x="10976610" y="2079625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12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 rot="10800000">
            <a:off x="10972800" y="2917826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12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 rot="10800000">
            <a:off x="10942955" y="3908426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12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 rot="10800000">
            <a:off x="10942955" y="4822825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12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5"/>
                </a:lnTo>
                <a:lnTo>
                  <a:pt x="144043" y="222183"/>
                </a:lnTo>
                <a:lnTo>
                  <a:pt x="149898" y="222183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3D3E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62600" y="1622425"/>
            <a:ext cx="5062855" cy="413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he-IL" sz="1400" dirty="0"/>
              <a:t>העוזר מספק טפסים מובנים למילוי על ידי המאמן(בשלב זה בצורה ידנית, בעתיד יתעדכן וישתמש בנתונים </a:t>
            </a:r>
            <a:r>
              <a:rPr lang="he-IL" sz="1400"/>
              <a:t>בזמן אמת):</a:t>
            </a:r>
            <a:endParaRPr lang="he-IL" sz="1400" dirty="0"/>
          </a:p>
          <a:p>
            <a:pPr marL="12700" algn="r">
              <a:lnSpc>
                <a:spcPct val="100000"/>
              </a:lnSpc>
              <a:spcBef>
                <a:spcPts val="100"/>
              </a:spcBef>
            </a:pPr>
            <a:endParaRPr sz="1350" dirty="0">
              <a:latin typeface="Verdana"/>
              <a:cs typeface="Verdana"/>
            </a:endParaRPr>
          </a:p>
          <a:p>
            <a:pPr algn="r"/>
            <a:r>
              <a:rPr lang="he-IL" sz="1600" b="1" dirty="0"/>
              <a:t>נתוני ליבה</a:t>
            </a:r>
            <a:endParaRPr lang="he-IL" sz="1600" dirty="0"/>
          </a:p>
          <a:p>
            <a:pPr algn="r"/>
            <a:r>
              <a:rPr lang="he-IL" sz="1400" dirty="0"/>
              <a:t>הרבע הנוכחי, זמן שנותר, הפרש נקודות</a:t>
            </a:r>
          </a:p>
          <a:p>
            <a:pPr algn="r">
              <a:lnSpc>
                <a:spcPct val="100000"/>
              </a:lnSpc>
              <a:spcBef>
                <a:spcPts val="1385"/>
              </a:spcBef>
            </a:pPr>
            <a:endParaRPr sz="1350" dirty="0">
              <a:latin typeface="Verdana"/>
              <a:cs typeface="Verdana"/>
            </a:endParaRPr>
          </a:p>
          <a:p>
            <a:pPr algn="r"/>
            <a:r>
              <a:rPr lang="he-IL" sz="1600" b="1" dirty="0"/>
              <a:t>דינמיקת המשחק</a:t>
            </a:r>
            <a:endParaRPr lang="he-IL" sz="1600" dirty="0"/>
          </a:p>
          <a:p>
            <a:pPr marL="569595" algn="r">
              <a:lnSpc>
                <a:spcPct val="100000"/>
              </a:lnSpc>
              <a:spcBef>
                <a:spcPts val="1095"/>
              </a:spcBef>
            </a:pPr>
            <a:r>
              <a:rPr lang="he-IL" sz="1400" dirty="0"/>
              <a:t>רצפים של היריבה והקבוצה, רוטציות שחקנים</a:t>
            </a:r>
          </a:p>
          <a:p>
            <a:pPr marL="569595" algn="r">
              <a:lnSpc>
                <a:spcPct val="100000"/>
              </a:lnSpc>
              <a:spcBef>
                <a:spcPts val="1095"/>
              </a:spcBef>
            </a:pPr>
            <a:endParaRPr sz="1350" dirty="0">
              <a:latin typeface="Verdana"/>
              <a:cs typeface="Verdana"/>
            </a:endParaRPr>
          </a:p>
          <a:p>
            <a:pPr algn="r"/>
            <a:r>
              <a:rPr lang="he-IL" sz="1600" b="1" dirty="0"/>
              <a:t>מצב המשחק</a:t>
            </a:r>
            <a:endParaRPr lang="he-IL" sz="1600" dirty="0"/>
          </a:p>
          <a:p>
            <a:pPr marL="569595" algn="r">
              <a:lnSpc>
                <a:spcPct val="100000"/>
              </a:lnSpc>
              <a:spcBef>
                <a:spcPts val="1095"/>
              </a:spcBef>
            </a:pPr>
            <a:r>
              <a:rPr lang="he-IL" sz="1400" dirty="0"/>
              <a:t>פסקי זמן שנותרו, הערות נוספות (אופציונלי)</a:t>
            </a:r>
          </a:p>
          <a:p>
            <a:pPr marL="569595" algn="r">
              <a:lnSpc>
                <a:spcPct val="100000"/>
              </a:lnSpc>
              <a:spcBef>
                <a:spcPts val="1095"/>
              </a:spcBef>
            </a:pPr>
            <a:endParaRPr sz="1350" dirty="0">
              <a:latin typeface="Verdana"/>
              <a:cs typeface="Verdana"/>
            </a:endParaRPr>
          </a:p>
          <a:p>
            <a:pPr marL="569595" algn="r"/>
            <a:r>
              <a:rPr lang="he-IL" sz="1600" b="1" dirty="0"/>
              <a:t>תוצאה</a:t>
            </a:r>
            <a:endParaRPr lang="he-IL" sz="1600" dirty="0"/>
          </a:p>
          <a:p>
            <a:pPr marL="569595" algn="r">
              <a:lnSpc>
                <a:spcPct val="100000"/>
              </a:lnSpc>
            </a:pPr>
            <a:endParaRPr sz="1650" dirty="0">
              <a:latin typeface="Verdana"/>
              <a:cs typeface="Verdana"/>
            </a:endParaRPr>
          </a:p>
          <a:p>
            <a:pPr algn="r"/>
            <a:r>
              <a:rPr lang="he-IL" sz="1400" dirty="0"/>
              <a:t>המלצות מבוססות נתונים תוך שניות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0369939" cy="194436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1000" y="2393789"/>
            <a:ext cx="5844540" cy="50654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10"/>
              </a:spcBef>
            </a:pPr>
            <a:r>
              <a:rPr lang="he-IL" sz="3200" dirty="0"/>
              <a:t>שלב 7: בדיקות והערכה</a:t>
            </a:r>
            <a:endParaRPr sz="3050" dirty="0"/>
          </a:p>
        </p:txBody>
      </p:sp>
      <p:grpSp>
        <p:nvGrpSpPr>
          <p:cNvPr id="4" name="object 4"/>
          <p:cNvGrpSpPr/>
          <p:nvPr/>
        </p:nvGrpSpPr>
        <p:grpSpPr>
          <a:xfrm>
            <a:off x="544421" y="3093698"/>
            <a:ext cx="4563110" cy="1383030"/>
            <a:chOff x="544421" y="3093698"/>
            <a:chExt cx="4563110" cy="1383030"/>
          </a:xfrm>
        </p:grpSpPr>
        <p:sp>
          <p:nvSpPr>
            <p:cNvPr id="5" name="object 5"/>
            <p:cNvSpPr/>
            <p:nvPr/>
          </p:nvSpPr>
          <p:spPr>
            <a:xfrm>
              <a:off x="544410" y="3327793"/>
              <a:ext cx="4563110" cy="1148715"/>
            </a:xfrm>
            <a:custGeom>
              <a:avLst/>
              <a:gdLst/>
              <a:ahLst/>
              <a:cxnLst/>
              <a:rect l="l" t="t" r="r" b="b"/>
              <a:pathLst>
                <a:path w="4563110" h="1148714">
                  <a:moveTo>
                    <a:pt x="4562780" y="68364"/>
                  </a:moveTo>
                  <a:lnTo>
                    <a:pt x="4551134" y="29946"/>
                  </a:lnTo>
                  <a:lnTo>
                    <a:pt x="4520095" y="4495"/>
                  </a:lnTo>
                  <a:lnTo>
                    <a:pt x="4503420" y="0"/>
                  </a:lnTo>
                  <a:lnTo>
                    <a:pt x="4507141" y="990"/>
                  </a:lnTo>
                  <a:lnTo>
                    <a:pt x="4519841" y="8001"/>
                  </a:lnTo>
                  <a:lnTo>
                    <a:pt x="4541545" y="41910"/>
                  </a:lnTo>
                  <a:lnTo>
                    <a:pt x="4545495" y="68364"/>
                  </a:lnTo>
                  <a:lnTo>
                    <a:pt x="4545495" y="1031913"/>
                  </a:lnTo>
                  <a:lnTo>
                    <a:pt x="4537926" y="1069936"/>
                  </a:lnTo>
                  <a:lnTo>
                    <a:pt x="4516386" y="1102182"/>
                  </a:lnTo>
                  <a:lnTo>
                    <a:pt x="4515942" y="1102588"/>
                  </a:lnTo>
                  <a:lnTo>
                    <a:pt x="4484154" y="1123734"/>
                  </a:lnTo>
                  <a:lnTo>
                    <a:pt x="4446117" y="1131290"/>
                  </a:lnTo>
                  <a:lnTo>
                    <a:pt x="116662" y="1131290"/>
                  </a:lnTo>
                  <a:lnTo>
                    <a:pt x="78638" y="1123734"/>
                  </a:lnTo>
                  <a:lnTo>
                    <a:pt x="46837" y="1102601"/>
                  </a:lnTo>
                  <a:lnTo>
                    <a:pt x="46393" y="1102182"/>
                  </a:lnTo>
                  <a:lnTo>
                    <a:pt x="24853" y="1069936"/>
                  </a:lnTo>
                  <a:lnTo>
                    <a:pt x="17284" y="1031913"/>
                  </a:lnTo>
                  <a:lnTo>
                    <a:pt x="17284" y="68364"/>
                  </a:lnTo>
                  <a:lnTo>
                    <a:pt x="27609" y="25971"/>
                  </a:lnTo>
                  <a:lnTo>
                    <a:pt x="59372" y="0"/>
                  </a:lnTo>
                  <a:lnTo>
                    <a:pt x="55651" y="546"/>
                  </a:lnTo>
                  <a:lnTo>
                    <a:pt x="20256" y="19481"/>
                  </a:lnTo>
                  <a:lnTo>
                    <a:pt x="1320" y="54876"/>
                  </a:lnTo>
                  <a:lnTo>
                    <a:pt x="0" y="68364"/>
                  </a:lnTo>
                  <a:lnTo>
                    <a:pt x="0" y="1031913"/>
                  </a:lnTo>
                  <a:lnTo>
                    <a:pt x="8890" y="1076540"/>
                  </a:lnTo>
                  <a:lnTo>
                    <a:pt x="34175" y="1114399"/>
                  </a:lnTo>
                  <a:lnTo>
                    <a:pt x="72021" y="1139685"/>
                  </a:lnTo>
                  <a:lnTo>
                    <a:pt x="116662" y="1148575"/>
                  </a:lnTo>
                  <a:lnTo>
                    <a:pt x="4446117" y="1148575"/>
                  </a:lnTo>
                  <a:lnTo>
                    <a:pt x="4490771" y="1139685"/>
                  </a:lnTo>
                  <a:lnTo>
                    <a:pt x="4528147" y="1114806"/>
                  </a:lnTo>
                  <a:lnTo>
                    <a:pt x="4528604" y="1114399"/>
                  </a:lnTo>
                  <a:lnTo>
                    <a:pt x="4553890" y="1076540"/>
                  </a:lnTo>
                  <a:lnTo>
                    <a:pt x="4562780" y="1031913"/>
                  </a:lnTo>
                  <a:lnTo>
                    <a:pt x="4562780" y="68364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421" y="3093698"/>
              <a:ext cx="4562773" cy="46664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778542" y="3196796"/>
            <a:ext cx="94615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440" dirty="0">
                <a:latin typeface="Verdana"/>
                <a:cs typeface="Verdana"/>
              </a:rPr>
              <a:t>1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04554" y="3698874"/>
            <a:ext cx="4185285" cy="57579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30"/>
              </a:spcBef>
            </a:pPr>
            <a:r>
              <a:rPr lang="he-IL" sz="1600" dirty="0"/>
              <a:t>בדיקות יחידה</a:t>
            </a:r>
            <a:endParaRPr sz="1500" dirty="0">
              <a:latin typeface="Verdana"/>
              <a:cs typeface="Verdana"/>
            </a:endParaRPr>
          </a:p>
          <a:p>
            <a:pPr marL="12700" algn="r">
              <a:lnSpc>
                <a:spcPct val="100000"/>
              </a:lnSpc>
              <a:spcBef>
                <a:spcPts val="1015"/>
              </a:spcBef>
            </a:pPr>
            <a:r>
              <a:rPr lang="he-IL" sz="1200" dirty="0"/>
              <a:t>אימות רכיבים בודדים והאינטגרציה ביניהם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2744" y="3093698"/>
            <a:ext cx="4563110" cy="1383030"/>
            <a:chOff x="5262744" y="3093698"/>
            <a:chExt cx="4563110" cy="1383030"/>
          </a:xfrm>
        </p:grpSpPr>
        <p:sp>
          <p:nvSpPr>
            <p:cNvPr id="10" name="object 10"/>
            <p:cNvSpPr/>
            <p:nvPr/>
          </p:nvSpPr>
          <p:spPr>
            <a:xfrm>
              <a:off x="5262740" y="3327793"/>
              <a:ext cx="4563110" cy="1148715"/>
            </a:xfrm>
            <a:custGeom>
              <a:avLst/>
              <a:gdLst/>
              <a:ahLst/>
              <a:cxnLst/>
              <a:rect l="l" t="t" r="r" b="b"/>
              <a:pathLst>
                <a:path w="4563109" h="1148714">
                  <a:moveTo>
                    <a:pt x="4562767" y="68364"/>
                  </a:moveTo>
                  <a:lnTo>
                    <a:pt x="4551134" y="29946"/>
                  </a:lnTo>
                  <a:lnTo>
                    <a:pt x="4520095" y="4495"/>
                  </a:lnTo>
                  <a:lnTo>
                    <a:pt x="4503394" y="0"/>
                  </a:lnTo>
                  <a:lnTo>
                    <a:pt x="4507128" y="990"/>
                  </a:lnTo>
                  <a:lnTo>
                    <a:pt x="4519828" y="8001"/>
                  </a:lnTo>
                  <a:lnTo>
                    <a:pt x="4541532" y="41910"/>
                  </a:lnTo>
                  <a:lnTo>
                    <a:pt x="4545495" y="68364"/>
                  </a:lnTo>
                  <a:lnTo>
                    <a:pt x="4545495" y="1031913"/>
                  </a:lnTo>
                  <a:lnTo>
                    <a:pt x="4537913" y="1069936"/>
                  </a:lnTo>
                  <a:lnTo>
                    <a:pt x="4516386" y="1102182"/>
                  </a:lnTo>
                  <a:lnTo>
                    <a:pt x="4515929" y="1102588"/>
                  </a:lnTo>
                  <a:lnTo>
                    <a:pt x="4484128" y="1123734"/>
                  </a:lnTo>
                  <a:lnTo>
                    <a:pt x="4446105" y="1131290"/>
                  </a:lnTo>
                  <a:lnTo>
                    <a:pt x="116662" y="1131290"/>
                  </a:lnTo>
                  <a:lnTo>
                    <a:pt x="78625" y="1123734"/>
                  </a:lnTo>
                  <a:lnTo>
                    <a:pt x="46824" y="1102601"/>
                  </a:lnTo>
                  <a:lnTo>
                    <a:pt x="46380" y="1102182"/>
                  </a:lnTo>
                  <a:lnTo>
                    <a:pt x="24853" y="1069936"/>
                  </a:lnTo>
                  <a:lnTo>
                    <a:pt x="17284" y="1031913"/>
                  </a:lnTo>
                  <a:lnTo>
                    <a:pt x="17284" y="68364"/>
                  </a:lnTo>
                  <a:lnTo>
                    <a:pt x="27609" y="25971"/>
                  </a:lnTo>
                  <a:lnTo>
                    <a:pt x="59359" y="0"/>
                  </a:lnTo>
                  <a:lnTo>
                    <a:pt x="55638" y="546"/>
                  </a:lnTo>
                  <a:lnTo>
                    <a:pt x="20243" y="19481"/>
                  </a:lnTo>
                  <a:lnTo>
                    <a:pt x="1308" y="54876"/>
                  </a:lnTo>
                  <a:lnTo>
                    <a:pt x="0" y="68364"/>
                  </a:lnTo>
                  <a:lnTo>
                    <a:pt x="0" y="1031913"/>
                  </a:lnTo>
                  <a:lnTo>
                    <a:pt x="8877" y="1076540"/>
                  </a:lnTo>
                  <a:lnTo>
                    <a:pt x="34175" y="1114399"/>
                  </a:lnTo>
                  <a:lnTo>
                    <a:pt x="72009" y="1139685"/>
                  </a:lnTo>
                  <a:lnTo>
                    <a:pt x="116662" y="1148575"/>
                  </a:lnTo>
                  <a:lnTo>
                    <a:pt x="4446105" y="1148575"/>
                  </a:lnTo>
                  <a:lnTo>
                    <a:pt x="4490758" y="1139685"/>
                  </a:lnTo>
                  <a:lnTo>
                    <a:pt x="4528134" y="1114806"/>
                  </a:lnTo>
                  <a:lnTo>
                    <a:pt x="4553890" y="1076540"/>
                  </a:lnTo>
                  <a:lnTo>
                    <a:pt x="4562767" y="1031913"/>
                  </a:lnTo>
                  <a:lnTo>
                    <a:pt x="4562767" y="68364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62744" y="3093698"/>
              <a:ext cx="4562773" cy="46664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477829" y="3196796"/>
            <a:ext cx="132715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50" dirty="0">
                <a:latin typeface="Verdana"/>
                <a:cs typeface="Verdana"/>
              </a:rPr>
              <a:t>2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22876" y="3680445"/>
            <a:ext cx="4024654" cy="5604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solidFill>
                  <a:srgbClr val="3D3E43"/>
                </a:solidFill>
                <a:latin typeface="Verdana"/>
                <a:cs typeface="Verdana"/>
              </a:rPr>
              <a:t>Live</a:t>
            </a:r>
            <a:r>
              <a:rPr sz="1500" spc="-6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3D3E43"/>
                </a:solidFill>
                <a:latin typeface="Verdana"/>
                <a:cs typeface="Verdana"/>
              </a:rPr>
              <a:t>Scenarios</a:t>
            </a:r>
            <a:endParaRPr sz="1500" dirty="0">
              <a:latin typeface="Verdana"/>
              <a:cs typeface="Verdana"/>
            </a:endParaRPr>
          </a:p>
          <a:p>
            <a:pPr marL="12700" algn="r">
              <a:lnSpc>
                <a:spcPct val="100000"/>
              </a:lnSpc>
              <a:spcBef>
                <a:spcPts val="1015"/>
              </a:spcBef>
            </a:pPr>
            <a:r>
              <a:rPr lang="he-IL" sz="1200" dirty="0"/>
              <a:t>ולידציה מול נתוני משחקים אמיתיים מהעבר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4421" y="4631906"/>
            <a:ext cx="4563110" cy="1374140"/>
            <a:chOff x="544421" y="4631906"/>
            <a:chExt cx="4563110" cy="1374140"/>
          </a:xfrm>
        </p:grpSpPr>
        <p:sp>
          <p:nvSpPr>
            <p:cNvPr id="15" name="object 15"/>
            <p:cNvSpPr/>
            <p:nvPr/>
          </p:nvSpPr>
          <p:spPr>
            <a:xfrm>
              <a:off x="544410" y="4866004"/>
              <a:ext cx="4563110" cy="1140460"/>
            </a:xfrm>
            <a:custGeom>
              <a:avLst/>
              <a:gdLst/>
              <a:ahLst/>
              <a:cxnLst/>
              <a:rect l="l" t="t" r="r" b="b"/>
              <a:pathLst>
                <a:path w="4563110" h="1140460">
                  <a:moveTo>
                    <a:pt x="4562780" y="68364"/>
                  </a:moveTo>
                  <a:lnTo>
                    <a:pt x="4551134" y="29946"/>
                  </a:lnTo>
                  <a:lnTo>
                    <a:pt x="4520095" y="4495"/>
                  </a:lnTo>
                  <a:lnTo>
                    <a:pt x="4503420" y="0"/>
                  </a:lnTo>
                  <a:lnTo>
                    <a:pt x="4507141" y="977"/>
                  </a:lnTo>
                  <a:lnTo>
                    <a:pt x="4519841" y="8001"/>
                  </a:lnTo>
                  <a:lnTo>
                    <a:pt x="4541545" y="41910"/>
                  </a:lnTo>
                  <a:lnTo>
                    <a:pt x="4545495" y="68364"/>
                  </a:lnTo>
                  <a:lnTo>
                    <a:pt x="4545495" y="1023264"/>
                  </a:lnTo>
                  <a:lnTo>
                    <a:pt x="4537926" y="1061288"/>
                  </a:lnTo>
                  <a:lnTo>
                    <a:pt x="4516386" y="1093533"/>
                  </a:lnTo>
                  <a:lnTo>
                    <a:pt x="4484154" y="1115072"/>
                  </a:lnTo>
                  <a:lnTo>
                    <a:pt x="4446117" y="1122641"/>
                  </a:lnTo>
                  <a:lnTo>
                    <a:pt x="116662" y="1122641"/>
                  </a:lnTo>
                  <a:lnTo>
                    <a:pt x="78638" y="1115072"/>
                  </a:lnTo>
                  <a:lnTo>
                    <a:pt x="46837" y="1093952"/>
                  </a:lnTo>
                  <a:lnTo>
                    <a:pt x="46393" y="1093533"/>
                  </a:lnTo>
                  <a:lnTo>
                    <a:pt x="24853" y="1061288"/>
                  </a:lnTo>
                  <a:lnTo>
                    <a:pt x="17284" y="1023264"/>
                  </a:lnTo>
                  <a:lnTo>
                    <a:pt x="17284" y="68364"/>
                  </a:lnTo>
                  <a:lnTo>
                    <a:pt x="27609" y="25958"/>
                  </a:lnTo>
                  <a:lnTo>
                    <a:pt x="59372" y="0"/>
                  </a:lnTo>
                  <a:lnTo>
                    <a:pt x="55638" y="546"/>
                  </a:lnTo>
                  <a:lnTo>
                    <a:pt x="20256" y="19481"/>
                  </a:lnTo>
                  <a:lnTo>
                    <a:pt x="1320" y="54876"/>
                  </a:lnTo>
                  <a:lnTo>
                    <a:pt x="0" y="68364"/>
                  </a:lnTo>
                  <a:lnTo>
                    <a:pt x="0" y="1023264"/>
                  </a:lnTo>
                  <a:lnTo>
                    <a:pt x="8890" y="1067904"/>
                  </a:lnTo>
                  <a:lnTo>
                    <a:pt x="34175" y="1105750"/>
                  </a:lnTo>
                  <a:lnTo>
                    <a:pt x="72021" y="1131036"/>
                  </a:lnTo>
                  <a:lnTo>
                    <a:pt x="116662" y="1139926"/>
                  </a:lnTo>
                  <a:lnTo>
                    <a:pt x="4446117" y="1139926"/>
                  </a:lnTo>
                  <a:lnTo>
                    <a:pt x="4490771" y="1131036"/>
                  </a:lnTo>
                  <a:lnTo>
                    <a:pt x="4528147" y="1106170"/>
                  </a:lnTo>
                  <a:lnTo>
                    <a:pt x="4553890" y="1067904"/>
                  </a:lnTo>
                  <a:lnTo>
                    <a:pt x="4562780" y="1023264"/>
                  </a:lnTo>
                  <a:lnTo>
                    <a:pt x="4562780" y="68364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421" y="4631906"/>
              <a:ext cx="4562773" cy="46664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759634" y="4726362"/>
            <a:ext cx="132715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50" dirty="0">
                <a:latin typeface="Verdana"/>
                <a:cs typeface="Verdana"/>
              </a:rPr>
              <a:t>3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3532" y="5210014"/>
            <a:ext cx="3672204" cy="4321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00" dirty="0">
                <a:solidFill>
                  <a:srgbClr val="3D3E43"/>
                </a:solidFill>
                <a:latin typeface="Verdana"/>
                <a:cs typeface="Verdana"/>
              </a:rPr>
              <a:t>Usability</a:t>
            </a:r>
            <a:r>
              <a:rPr sz="1500" spc="6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3D3E43"/>
                </a:solidFill>
                <a:latin typeface="Verdana"/>
                <a:cs typeface="Verdana"/>
              </a:rPr>
              <a:t>Testing</a:t>
            </a:r>
            <a:endParaRPr sz="1500" dirty="0">
              <a:latin typeface="Verdana"/>
              <a:cs typeface="Verdana"/>
            </a:endParaRPr>
          </a:p>
          <a:p>
            <a:pPr algn="r"/>
            <a:r>
              <a:rPr lang="he-IL" sz="1200" dirty="0" err="1"/>
              <a:t>סימלציות</a:t>
            </a:r>
            <a:r>
              <a:rPr lang="he-IL" sz="1200" dirty="0"/>
              <a:t> ודיונים עם אנשי </a:t>
            </a:r>
            <a:r>
              <a:rPr lang="he-IL" sz="1200" dirty="0" err="1"/>
              <a:t>מקוצע</a:t>
            </a:r>
            <a:r>
              <a:rPr lang="he-IL" sz="1200" dirty="0"/>
              <a:t> במידה ותהיה דרך </a:t>
            </a:r>
            <a:r>
              <a:rPr lang="he-IL" sz="1200" dirty="0" err="1"/>
              <a:t>ךיצור</a:t>
            </a:r>
            <a:r>
              <a:rPr lang="he-IL" sz="1200" dirty="0"/>
              <a:t> קשר</a:t>
            </a:r>
          </a:p>
        </p:txBody>
      </p:sp>
      <p:grpSp>
        <p:nvGrpSpPr>
          <p:cNvPr id="19" name="object 19"/>
          <p:cNvGrpSpPr/>
          <p:nvPr/>
        </p:nvGrpSpPr>
        <p:grpSpPr>
          <a:xfrm>
            <a:off x="5262744" y="4631906"/>
            <a:ext cx="4563110" cy="1374140"/>
            <a:chOff x="5262744" y="4631906"/>
            <a:chExt cx="4563110" cy="1374140"/>
          </a:xfrm>
        </p:grpSpPr>
        <p:sp>
          <p:nvSpPr>
            <p:cNvPr id="20" name="object 20"/>
            <p:cNvSpPr/>
            <p:nvPr/>
          </p:nvSpPr>
          <p:spPr>
            <a:xfrm>
              <a:off x="5262740" y="4866004"/>
              <a:ext cx="4563110" cy="1140460"/>
            </a:xfrm>
            <a:custGeom>
              <a:avLst/>
              <a:gdLst/>
              <a:ahLst/>
              <a:cxnLst/>
              <a:rect l="l" t="t" r="r" b="b"/>
              <a:pathLst>
                <a:path w="4563109" h="1140460">
                  <a:moveTo>
                    <a:pt x="4562767" y="68364"/>
                  </a:moveTo>
                  <a:lnTo>
                    <a:pt x="4551134" y="29946"/>
                  </a:lnTo>
                  <a:lnTo>
                    <a:pt x="4520095" y="4495"/>
                  </a:lnTo>
                  <a:lnTo>
                    <a:pt x="4503394" y="0"/>
                  </a:lnTo>
                  <a:lnTo>
                    <a:pt x="4507128" y="977"/>
                  </a:lnTo>
                  <a:lnTo>
                    <a:pt x="4519828" y="8001"/>
                  </a:lnTo>
                  <a:lnTo>
                    <a:pt x="4541532" y="41910"/>
                  </a:lnTo>
                  <a:lnTo>
                    <a:pt x="4545495" y="68364"/>
                  </a:lnTo>
                  <a:lnTo>
                    <a:pt x="4545495" y="1023264"/>
                  </a:lnTo>
                  <a:lnTo>
                    <a:pt x="4537913" y="1061288"/>
                  </a:lnTo>
                  <a:lnTo>
                    <a:pt x="4516386" y="1093533"/>
                  </a:lnTo>
                  <a:lnTo>
                    <a:pt x="4515929" y="1093939"/>
                  </a:lnTo>
                  <a:lnTo>
                    <a:pt x="4484128" y="1115072"/>
                  </a:lnTo>
                  <a:lnTo>
                    <a:pt x="4446105" y="1122641"/>
                  </a:lnTo>
                  <a:lnTo>
                    <a:pt x="116662" y="1122641"/>
                  </a:lnTo>
                  <a:lnTo>
                    <a:pt x="78625" y="1115072"/>
                  </a:lnTo>
                  <a:lnTo>
                    <a:pt x="46837" y="1093939"/>
                  </a:lnTo>
                  <a:lnTo>
                    <a:pt x="46393" y="1093533"/>
                  </a:lnTo>
                  <a:lnTo>
                    <a:pt x="39801" y="1086281"/>
                  </a:lnTo>
                  <a:lnTo>
                    <a:pt x="34010" y="1078484"/>
                  </a:lnTo>
                  <a:lnTo>
                    <a:pt x="19177" y="1042657"/>
                  </a:lnTo>
                  <a:lnTo>
                    <a:pt x="17284" y="1023264"/>
                  </a:lnTo>
                  <a:lnTo>
                    <a:pt x="17284" y="68364"/>
                  </a:lnTo>
                  <a:lnTo>
                    <a:pt x="27609" y="25958"/>
                  </a:lnTo>
                  <a:lnTo>
                    <a:pt x="59372" y="0"/>
                  </a:lnTo>
                  <a:lnTo>
                    <a:pt x="55638" y="546"/>
                  </a:lnTo>
                  <a:lnTo>
                    <a:pt x="20243" y="19481"/>
                  </a:lnTo>
                  <a:lnTo>
                    <a:pt x="1308" y="54876"/>
                  </a:lnTo>
                  <a:lnTo>
                    <a:pt x="0" y="68364"/>
                  </a:lnTo>
                  <a:lnTo>
                    <a:pt x="0" y="1023264"/>
                  </a:lnTo>
                  <a:lnTo>
                    <a:pt x="8877" y="1067904"/>
                  </a:lnTo>
                  <a:lnTo>
                    <a:pt x="34175" y="1105750"/>
                  </a:lnTo>
                  <a:lnTo>
                    <a:pt x="72009" y="1131036"/>
                  </a:lnTo>
                  <a:lnTo>
                    <a:pt x="116662" y="1139926"/>
                  </a:lnTo>
                  <a:lnTo>
                    <a:pt x="4446105" y="1139926"/>
                  </a:lnTo>
                  <a:lnTo>
                    <a:pt x="4490758" y="1131036"/>
                  </a:lnTo>
                  <a:lnTo>
                    <a:pt x="4528134" y="1106170"/>
                  </a:lnTo>
                  <a:lnTo>
                    <a:pt x="4528261" y="1106068"/>
                  </a:lnTo>
                  <a:lnTo>
                    <a:pt x="4528604" y="1105750"/>
                  </a:lnTo>
                  <a:lnTo>
                    <a:pt x="4536338" y="1097241"/>
                  </a:lnTo>
                  <a:lnTo>
                    <a:pt x="4557776" y="1057071"/>
                  </a:lnTo>
                  <a:lnTo>
                    <a:pt x="4562767" y="1023264"/>
                  </a:lnTo>
                  <a:lnTo>
                    <a:pt x="4562767" y="68364"/>
                  </a:lnTo>
                  <a:close/>
                </a:path>
              </a:pathLst>
            </a:custGeom>
            <a:solidFill>
              <a:srgbClr val="C5C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2744" y="4631906"/>
              <a:ext cx="4562773" cy="46664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468911" y="4726362"/>
            <a:ext cx="150495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5" dirty="0">
                <a:latin typeface="Verdana"/>
                <a:cs typeface="Verdana"/>
              </a:rPr>
              <a:t>4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22876" y="5237079"/>
            <a:ext cx="4102124" cy="4475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r"/>
            <a:r>
              <a:rPr lang="he-IL" sz="1600" b="1" dirty="0"/>
              <a:t>מדדי ביצועים</a:t>
            </a:r>
            <a:endParaRPr lang="he-IL" sz="1600" dirty="0"/>
          </a:p>
          <a:p>
            <a:pPr algn="r"/>
            <a:r>
              <a:rPr lang="he-IL" sz="1200" dirty="0"/>
              <a:t>זמן תגובה, אמינות, ומשוב על פי נתוני עבר.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200" y="2681907"/>
            <a:ext cx="8935720" cy="57002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25"/>
              </a:spcBef>
            </a:pPr>
            <a:r>
              <a:rPr lang="he-IL" sz="3600" dirty="0"/>
              <a:t>שלב 8: תיעוד והצגה</a:t>
            </a:r>
            <a:endParaRPr sz="335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" y="4041775"/>
            <a:ext cx="3295650" cy="190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9600" y="4137025"/>
            <a:ext cx="3302635" cy="60208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2000" b="1" dirty="0"/>
              <a:t>דוח סופי</a:t>
            </a:r>
            <a:endParaRPr lang="he-IL" sz="2000" dirty="0"/>
          </a:p>
          <a:p>
            <a:pPr algn="r"/>
            <a:r>
              <a:rPr lang="he-IL" dirty="0"/>
              <a:t>מתודולוגיה ותוצאות מקיפות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7175" y="4041775"/>
            <a:ext cx="3295650" cy="190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76700" y="4137025"/>
            <a:ext cx="3032760" cy="8790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2000" b="1" dirty="0"/>
              <a:t>חומרי הצגה</a:t>
            </a:r>
            <a:endParaRPr lang="he-IL" sz="2000" dirty="0"/>
          </a:p>
          <a:p>
            <a:pPr algn="r"/>
            <a:r>
              <a:rPr lang="he-IL" dirty="0"/>
              <a:t>מצגת, פוסטר, הדגמה אינטראקטיבית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275" y="4041775"/>
            <a:ext cx="3295650" cy="1905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543800" y="4137025"/>
            <a:ext cx="2927350" cy="87908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r"/>
            <a:r>
              <a:rPr lang="he-IL" sz="2000" b="1" dirty="0"/>
              <a:t>סרטון הדגמה</a:t>
            </a:r>
            <a:endParaRPr lang="en-US" sz="2000" b="1" dirty="0"/>
          </a:p>
          <a:p>
            <a:pPr algn="r"/>
            <a:r>
              <a:rPr lang="he-IL" dirty="0"/>
              <a:t>סרטון קצר המדגים שימוש בעולם האמיתי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5"/>
            <a:ext cx="4139326" cy="64387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93487" y="463203"/>
            <a:ext cx="3354704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10"/>
              </a:spcBef>
            </a:pPr>
            <a:r>
              <a:rPr lang="he-IL" sz="3600" dirty="0"/>
              <a:t>מדדי הצלחה</a:t>
            </a:r>
            <a:endParaRPr sz="3250" dirty="0"/>
          </a:p>
        </p:txBody>
      </p:sp>
      <p:sp>
        <p:nvSpPr>
          <p:cNvPr id="4" name="object 4"/>
          <p:cNvSpPr txBox="1"/>
          <p:nvPr/>
        </p:nvSpPr>
        <p:spPr>
          <a:xfrm>
            <a:off x="4776993" y="1207021"/>
            <a:ext cx="1659255" cy="2035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000" spc="-565" dirty="0">
                <a:solidFill>
                  <a:srgbClr val="3D3E43"/>
                </a:solidFill>
                <a:latin typeface="Verdana"/>
                <a:cs typeface="Verdana"/>
              </a:rPr>
              <a:t>75%</a:t>
            </a:r>
            <a:endParaRPr sz="4000" dirty="0">
              <a:latin typeface="Verdana"/>
              <a:cs typeface="Verdana"/>
            </a:endParaRPr>
          </a:p>
          <a:p>
            <a:pPr marL="313055" marR="306070" algn="ctr">
              <a:lnSpc>
                <a:spcPct val="105600"/>
              </a:lnSpc>
              <a:spcBef>
                <a:spcPts val="1345"/>
              </a:spcBef>
            </a:pPr>
            <a:r>
              <a:rPr lang="he-IL" dirty="0"/>
              <a:t>דיוק מינימלי</a:t>
            </a:r>
          </a:p>
          <a:p>
            <a:pPr marL="313055" marR="306070" algn="ctr">
              <a:lnSpc>
                <a:spcPct val="105600"/>
              </a:lnSpc>
              <a:spcBef>
                <a:spcPts val="1345"/>
              </a:spcBef>
            </a:pPr>
            <a:r>
              <a:rPr lang="he-IL" sz="1400" dirty="0"/>
              <a:t>הפחתת חיוביות שגויות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14999" y="1207021"/>
            <a:ext cx="1747520" cy="196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300" spc="-425" dirty="0">
                <a:solidFill>
                  <a:srgbClr val="3D3E43"/>
                </a:solidFill>
                <a:latin typeface="Verdana"/>
                <a:cs typeface="Verdana"/>
              </a:rPr>
              <a:t>70%</a:t>
            </a:r>
            <a:endParaRPr sz="43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50"/>
              </a:spcBef>
            </a:pPr>
            <a:r>
              <a:rPr sz="1600" spc="105" dirty="0">
                <a:solidFill>
                  <a:srgbClr val="3D3E43"/>
                </a:solidFill>
                <a:latin typeface="Verdana"/>
                <a:cs typeface="Verdana"/>
              </a:rPr>
              <a:t>Minimum</a:t>
            </a:r>
            <a:r>
              <a:rPr sz="1600" spc="-12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3D3E43"/>
                </a:solidFill>
                <a:latin typeface="Verdana"/>
                <a:cs typeface="Verdana"/>
              </a:rPr>
              <a:t>Recall</a:t>
            </a:r>
            <a:endParaRPr sz="1600" dirty="0">
              <a:latin typeface="Verdana"/>
              <a:cs typeface="Verdana"/>
            </a:endParaRPr>
          </a:p>
          <a:p>
            <a:pPr marL="180975" marR="173355" indent="635" algn="ctr">
              <a:lnSpc>
                <a:spcPct val="132300"/>
              </a:lnSpc>
              <a:spcBef>
                <a:spcPts val="560"/>
              </a:spcBef>
            </a:pPr>
            <a:r>
              <a:rPr sz="1300" spc="-75" dirty="0">
                <a:solidFill>
                  <a:srgbClr val="3D3E43"/>
                </a:solidFill>
                <a:latin typeface="Verdana"/>
                <a:cs typeface="Verdana"/>
              </a:rPr>
              <a:t>Recall:</a:t>
            </a:r>
            <a:r>
              <a:rPr sz="1300" spc="-5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00" spc="-55" dirty="0">
                <a:solidFill>
                  <a:srgbClr val="3D3E43"/>
                </a:solidFill>
                <a:latin typeface="Verdana"/>
                <a:cs typeface="Verdana"/>
              </a:rPr>
              <a:t>Identifying </a:t>
            </a:r>
            <a:r>
              <a:rPr sz="1300" spc="-10" dirty="0">
                <a:solidFill>
                  <a:srgbClr val="3D3E43"/>
                </a:solidFill>
                <a:latin typeface="Verdana"/>
                <a:cs typeface="Verdana"/>
              </a:rPr>
              <a:t>relevant </a:t>
            </a:r>
            <a:r>
              <a:rPr sz="1300" spc="-60" dirty="0">
                <a:solidFill>
                  <a:srgbClr val="3D3E43"/>
                </a:solidFill>
                <a:latin typeface="Verdana"/>
                <a:cs typeface="Verdana"/>
              </a:rPr>
              <a:t>recommendations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8522" y="1207021"/>
            <a:ext cx="1524635" cy="1708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4300" spc="-290" dirty="0">
                <a:solidFill>
                  <a:srgbClr val="3D3E43"/>
                </a:solidFill>
                <a:latin typeface="Verdana"/>
                <a:cs typeface="Verdana"/>
              </a:rPr>
              <a:t>0.7</a:t>
            </a:r>
            <a:endParaRPr sz="43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50"/>
              </a:spcBef>
            </a:pPr>
            <a:r>
              <a:rPr sz="1600" spc="-155" dirty="0">
                <a:solidFill>
                  <a:srgbClr val="3D3E43"/>
                </a:solidFill>
                <a:latin typeface="Verdana"/>
                <a:cs typeface="Verdana"/>
              </a:rPr>
              <a:t>F1</a:t>
            </a:r>
            <a:r>
              <a:rPr sz="1600" spc="-11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3D3E43"/>
                </a:solidFill>
                <a:latin typeface="Verdana"/>
                <a:cs typeface="Verdana"/>
              </a:rPr>
              <a:t>Score</a:t>
            </a:r>
            <a:endParaRPr sz="1600" dirty="0">
              <a:latin typeface="Verdana"/>
              <a:cs typeface="Verdana"/>
            </a:endParaRPr>
          </a:p>
          <a:p>
            <a:pPr marL="12065" marR="5080" indent="635" algn="ctr">
              <a:lnSpc>
                <a:spcPct val="134600"/>
              </a:lnSpc>
              <a:spcBef>
                <a:spcPts val="520"/>
              </a:spcBef>
            </a:pPr>
            <a:r>
              <a:rPr sz="1300" spc="-40" dirty="0">
                <a:solidFill>
                  <a:srgbClr val="3D3E43"/>
                </a:solidFill>
                <a:latin typeface="Verdana"/>
                <a:cs typeface="Verdana"/>
              </a:rPr>
              <a:t>Balance</a:t>
            </a:r>
            <a:r>
              <a:rPr sz="1300" spc="-7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D3E43"/>
                </a:solidFill>
                <a:latin typeface="Verdana"/>
                <a:cs typeface="Verdana"/>
              </a:rPr>
              <a:t>between </a:t>
            </a:r>
            <a:r>
              <a:rPr sz="1300" spc="-45" dirty="0">
                <a:solidFill>
                  <a:srgbClr val="3D3E43"/>
                </a:solidFill>
                <a:latin typeface="Verdana"/>
                <a:cs typeface="Verdana"/>
              </a:rPr>
              <a:t>precision</a:t>
            </a:r>
            <a:r>
              <a:rPr sz="1300" spc="-65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300" spc="-60" dirty="0">
                <a:solidFill>
                  <a:srgbClr val="3D3E43"/>
                </a:solidFill>
                <a:latin typeface="Verdana"/>
                <a:cs typeface="Verdana"/>
              </a:rPr>
              <a:t>and </a:t>
            </a:r>
            <a:r>
              <a:rPr sz="1300" spc="-40" dirty="0">
                <a:solidFill>
                  <a:srgbClr val="3D3E43"/>
                </a:solidFill>
                <a:latin typeface="Verdana"/>
                <a:cs typeface="Verdana"/>
              </a:rPr>
              <a:t>recall</a:t>
            </a:r>
            <a:endParaRPr sz="1300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39325" y="3525044"/>
            <a:ext cx="7214475" cy="2663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 algn="ctr">
              <a:lnSpc>
                <a:spcPct val="100000"/>
              </a:lnSpc>
              <a:spcBef>
                <a:spcPts val="100"/>
              </a:spcBef>
            </a:pPr>
            <a:r>
              <a:rPr sz="4300" spc="-310" dirty="0">
                <a:solidFill>
                  <a:srgbClr val="3D3E43"/>
                </a:solidFill>
                <a:latin typeface="Verdana"/>
                <a:cs typeface="Verdana"/>
              </a:rPr>
              <a:t>0.75</a:t>
            </a:r>
            <a:endParaRPr sz="4300" dirty="0">
              <a:latin typeface="Verdana"/>
              <a:cs typeface="Verdana"/>
            </a:endParaRPr>
          </a:p>
          <a:p>
            <a:pPr marL="16510" algn="ctr">
              <a:lnSpc>
                <a:spcPct val="100000"/>
              </a:lnSpc>
              <a:spcBef>
                <a:spcPts val="1450"/>
              </a:spcBef>
            </a:pPr>
            <a:r>
              <a:rPr sz="1600" spc="70" dirty="0">
                <a:solidFill>
                  <a:srgbClr val="3D3E43"/>
                </a:solidFill>
                <a:latin typeface="Verdana"/>
                <a:cs typeface="Verdana"/>
              </a:rPr>
              <a:t>AUC</a:t>
            </a:r>
            <a:r>
              <a:rPr sz="1600" spc="-120" dirty="0">
                <a:solidFill>
                  <a:srgbClr val="3D3E43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3D3E43"/>
                </a:solidFill>
                <a:latin typeface="Verdana"/>
                <a:cs typeface="Verdana"/>
              </a:rPr>
              <a:t>Value</a:t>
            </a:r>
            <a:endParaRPr sz="1600" dirty="0">
              <a:latin typeface="Verdana"/>
              <a:cs typeface="Verdana"/>
            </a:endParaRPr>
          </a:p>
          <a:p>
            <a:pPr marL="2132330" marR="2107565" algn="ctr">
              <a:lnSpc>
                <a:spcPct val="134600"/>
              </a:lnSpc>
              <a:spcBef>
                <a:spcPts val="520"/>
              </a:spcBef>
            </a:pPr>
            <a:r>
              <a:rPr lang="he-IL" sz="1400" dirty="0"/>
              <a:t>אופטימליות של סיווג בינארי</a:t>
            </a:r>
          </a:p>
          <a:p>
            <a:pPr marL="2132330" marR="2107565" algn="r">
              <a:lnSpc>
                <a:spcPct val="134600"/>
              </a:lnSpc>
              <a:spcBef>
                <a:spcPts val="520"/>
              </a:spcBef>
            </a:pPr>
            <a:r>
              <a:rPr lang="he-IL" sz="1400" dirty="0"/>
              <a:t>מדדים איכותיים: יכולת הסבר של המודל, שימושיות עבור מאמנים, עקביות עם ספרות מקצועית בתחום </a:t>
            </a:r>
            <a:r>
              <a:rPr lang="he-IL" sz="1400" dirty="0" err="1"/>
              <a:t>האנליטיקה</a:t>
            </a:r>
            <a:r>
              <a:rPr lang="he-IL" sz="1400" dirty="0"/>
              <a:t> הספורטיבית, משוב חיובי ממשתמשי ניסוי.</a:t>
            </a:r>
            <a:endParaRPr sz="13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951503" cy="64365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948" y="408793"/>
            <a:ext cx="10256103" cy="96949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917315" algn="r">
              <a:lnSpc>
                <a:spcPct val="100000"/>
              </a:lnSpc>
              <a:spcBef>
                <a:spcPts val="120"/>
              </a:spcBef>
            </a:pPr>
            <a:r>
              <a:rPr lang="he-IL" dirty="0"/>
              <a:t>סיכום</a:t>
            </a:r>
            <a:endParaRPr spc="6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80977" y="1850756"/>
            <a:ext cx="5403215" cy="1413143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algn="r">
              <a:lnSpc>
                <a:spcPct val="132500"/>
              </a:lnSpc>
              <a:spcBef>
                <a:spcPts val="114"/>
              </a:spcBef>
            </a:pPr>
            <a:r>
              <a:rPr lang="he-IL" sz="1400" dirty="0"/>
              <a:t>עם סיום הפרויקט, עוזר האימון הדיגיטלי יספק המלצות בזמן אמת שניתנות להסבר במהלך משחקים. הפרויקט מציג מחזור חיים מלא של מערכת חיזוי: מאיסוף נתונים ועד הפקת תחזיות בזמן אמת. הוא משלב תובנות מתחום מדעי הספורט עם קבלת החלטות טקטית מבוססת נתונים כדי לשפר אסטרטגיות אימון.</a:t>
            </a:r>
            <a:endParaRPr sz="1400" spc="-10" dirty="0"/>
          </a:p>
        </p:txBody>
      </p:sp>
      <p:grpSp>
        <p:nvGrpSpPr>
          <p:cNvPr id="5" name="object 5"/>
          <p:cNvGrpSpPr/>
          <p:nvPr/>
        </p:nvGrpSpPr>
        <p:grpSpPr>
          <a:xfrm>
            <a:off x="4504713" y="3731975"/>
            <a:ext cx="2661285" cy="1185545"/>
            <a:chOff x="4504713" y="3731975"/>
            <a:chExt cx="2661285" cy="1185545"/>
          </a:xfrm>
        </p:grpSpPr>
        <p:sp>
          <p:nvSpPr>
            <p:cNvPr id="6" name="object 6"/>
            <p:cNvSpPr/>
            <p:nvPr/>
          </p:nvSpPr>
          <p:spPr>
            <a:xfrm>
              <a:off x="4509104" y="3736366"/>
              <a:ext cx="2652395" cy="1177290"/>
            </a:xfrm>
            <a:custGeom>
              <a:avLst/>
              <a:gdLst/>
              <a:ahLst/>
              <a:cxnLst/>
              <a:rect l="l" t="t" r="r" b="b"/>
              <a:pathLst>
                <a:path w="2652395" h="1177289">
                  <a:moveTo>
                    <a:pt x="2651897" y="0"/>
                  </a:moveTo>
                  <a:lnTo>
                    <a:pt x="311729" y="0"/>
                  </a:lnTo>
                  <a:lnTo>
                    <a:pt x="296415" y="375"/>
                  </a:lnTo>
                  <a:lnTo>
                    <a:pt x="250917" y="5994"/>
                  </a:lnTo>
                  <a:lnTo>
                    <a:pt x="206726" y="18212"/>
                  </a:lnTo>
                  <a:lnTo>
                    <a:pt x="164777" y="36806"/>
                  </a:lnTo>
                  <a:lnTo>
                    <a:pt x="126014" y="61352"/>
                  </a:lnTo>
                  <a:lnTo>
                    <a:pt x="91300" y="91300"/>
                  </a:lnTo>
                  <a:lnTo>
                    <a:pt x="61352" y="126014"/>
                  </a:lnTo>
                  <a:lnTo>
                    <a:pt x="36807" y="164777"/>
                  </a:lnTo>
                  <a:lnTo>
                    <a:pt x="18217" y="206726"/>
                  </a:lnTo>
                  <a:lnTo>
                    <a:pt x="5994" y="250917"/>
                  </a:lnTo>
                  <a:lnTo>
                    <a:pt x="373" y="296415"/>
                  </a:lnTo>
                  <a:lnTo>
                    <a:pt x="0" y="311729"/>
                  </a:lnTo>
                  <a:lnTo>
                    <a:pt x="0" y="1176669"/>
                  </a:lnTo>
                  <a:lnTo>
                    <a:pt x="2340168" y="1176669"/>
                  </a:lnTo>
                  <a:lnTo>
                    <a:pt x="2355481" y="1176294"/>
                  </a:lnTo>
                  <a:lnTo>
                    <a:pt x="2400980" y="1170675"/>
                  </a:lnTo>
                  <a:lnTo>
                    <a:pt x="2445171" y="1158451"/>
                  </a:lnTo>
                  <a:lnTo>
                    <a:pt x="2487115" y="1139862"/>
                  </a:lnTo>
                  <a:lnTo>
                    <a:pt x="2525883" y="1115312"/>
                  </a:lnTo>
                  <a:lnTo>
                    <a:pt x="2560597" y="1085357"/>
                  </a:lnTo>
                  <a:lnTo>
                    <a:pt x="2590540" y="1050655"/>
                  </a:lnTo>
                  <a:lnTo>
                    <a:pt x="2615090" y="1011887"/>
                  </a:lnTo>
                  <a:lnTo>
                    <a:pt x="2633679" y="969943"/>
                  </a:lnTo>
                  <a:lnTo>
                    <a:pt x="2645903" y="925752"/>
                  </a:lnTo>
                  <a:lnTo>
                    <a:pt x="2651522" y="880254"/>
                  </a:lnTo>
                  <a:lnTo>
                    <a:pt x="2651897" y="864940"/>
                  </a:lnTo>
                  <a:lnTo>
                    <a:pt x="2651897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13494" y="3740756"/>
              <a:ext cx="2643116" cy="11678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09104" y="3736366"/>
              <a:ext cx="2652395" cy="1177290"/>
            </a:xfrm>
            <a:custGeom>
              <a:avLst/>
              <a:gdLst/>
              <a:ahLst/>
              <a:cxnLst/>
              <a:rect l="l" t="t" r="r" b="b"/>
              <a:pathLst>
                <a:path w="2652395" h="1177289">
                  <a:moveTo>
                    <a:pt x="0" y="1176669"/>
                  </a:moveTo>
                  <a:lnTo>
                    <a:pt x="0" y="311729"/>
                  </a:lnTo>
                  <a:lnTo>
                    <a:pt x="94" y="304076"/>
                  </a:lnTo>
                  <a:lnTo>
                    <a:pt x="3373" y="265991"/>
                  </a:lnTo>
                  <a:lnTo>
                    <a:pt x="11287" y="228584"/>
                  </a:lnTo>
                  <a:lnTo>
                    <a:pt x="23732" y="192435"/>
                  </a:lnTo>
                  <a:lnTo>
                    <a:pt x="40500" y="158076"/>
                  </a:lnTo>
                  <a:lnTo>
                    <a:pt x="61341" y="126031"/>
                  </a:lnTo>
                  <a:lnTo>
                    <a:pt x="85959" y="96779"/>
                  </a:lnTo>
                  <a:lnTo>
                    <a:pt x="113967" y="70764"/>
                  </a:lnTo>
                  <a:lnTo>
                    <a:pt x="144957" y="48363"/>
                  </a:lnTo>
                  <a:lnTo>
                    <a:pt x="178445" y="29927"/>
                  </a:lnTo>
                  <a:lnTo>
                    <a:pt x="213944" y="15733"/>
                  </a:lnTo>
                  <a:lnTo>
                    <a:pt x="250917" y="5994"/>
                  </a:lnTo>
                  <a:lnTo>
                    <a:pt x="288797" y="839"/>
                  </a:lnTo>
                  <a:lnTo>
                    <a:pt x="311729" y="0"/>
                  </a:lnTo>
                  <a:lnTo>
                    <a:pt x="2651897" y="0"/>
                  </a:lnTo>
                  <a:lnTo>
                    <a:pt x="2651897" y="864940"/>
                  </a:lnTo>
                  <a:lnTo>
                    <a:pt x="2651803" y="872592"/>
                  </a:lnTo>
                  <a:lnTo>
                    <a:pt x="2648524" y="910678"/>
                  </a:lnTo>
                  <a:lnTo>
                    <a:pt x="2640609" y="948079"/>
                  </a:lnTo>
                  <a:lnTo>
                    <a:pt x="2628165" y="984234"/>
                  </a:lnTo>
                  <a:lnTo>
                    <a:pt x="2611397" y="1018593"/>
                  </a:lnTo>
                  <a:lnTo>
                    <a:pt x="2590547" y="1050638"/>
                  </a:lnTo>
                  <a:lnTo>
                    <a:pt x="2565938" y="1079885"/>
                  </a:lnTo>
                  <a:lnTo>
                    <a:pt x="2537930" y="1105905"/>
                  </a:lnTo>
                  <a:lnTo>
                    <a:pt x="2506940" y="1128306"/>
                  </a:lnTo>
                  <a:lnTo>
                    <a:pt x="2473452" y="1146736"/>
                  </a:lnTo>
                  <a:lnTo>
                    <a:pt x="2437953" y="1160931"/>
                  </a:lnTo>
                  <a:lnTo>
                    <a:pt x="2400980" y="1170675"/>
                  </a:lnTo>
                  <a:lnTo>
                    <a:pt x="2363099" y="1175825"/>
                  </a:lnTo>
                  <a:lnTo>
                    <a:pt x="2340168" y="1176669"/>
                  </a:lnTo>
                  <a:lnTo>
                    <a:pt x="0" y="1176669"/>
                  </a:lnTo>
                  <a:close/>
                </a:path>
              </a:pathLst>
            </a:custGeom>
            <a:ln w="8781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658855" y="3881726"/>
            <a:ext cx="223329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r"/>
            <a:r>
              <a:rPr lang="he-IL" sz="1600" b="1" dirty="0"/>
              <a:t>חיזוי בזמן אמת</a:t>
            </a:r>
            <a:endParaRPr lang="he-IL" sz="1600" dirty="0"/>
          </a:p>
          <a:p>
            <a:pPr algn="r"/>
            <a:r>
              <a:rPr lang="he-IL" sz="1400" dirty="0"/>
              <a:t>המלצות המבוססות על נתוני משחק.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7323452" y="3731975"/>
            <a:ext cx="2661285" cy="1185545"/>
            <a:chOff x="7323452" y="3731975"/>
            <a:chExt cx="2661285" cy="1185545"/>
          </a:xfrm>
        </p:grpSpPr>
        <p:sp>
          <p:nvSpPr>
            <p:cNvPr id="11" name="object 11"/>
            <p:cNvSpPr/>
            <p:nvPr/>
          </p:nvSpPr>
          <p:spPr>
            <a:xfrm>
              <a:off x="7327843" y="3736366"/>
              <a:ext cx="2652395" cy="1177290"/>
            </a:xfrm>
            <a:custGeom>
              <a:avLst/>
              <a:gdLst/>
              <a:ahLst/>
              <a:cxnLst/>
              <a:rect l="l" t="t" r="r" b="b"/>
              <a:pathLst>
                <a:path w="2652395" h="1177289">
                  <a:moveTo>
                    <a:pt x="2651897" y="0"/>
                  </a:moveTo>
                  <a:lnTo>
                    <a:pt x="311729" y="0"/>
                  </a:lnTo>
                  <a:lnTo>
                    <a:pt x="296415" y="375"/>
                  </a:lnTo>
                  <a:lnTo>
                    <a:pt x="250917" y="5994"/>
                  </a:lnTo>
                  <a:lnTo>
                    <a:pt x="206726" y="18212"/>
                  </a:lnTo>
                  <a:lnTo>
                    <a:pt x="164777" y="36806"/>
                  </a:lnTo>
                  <a:lnTo>
                    <a:pt x="126014" y="61352"/>
                  </a:lnTo>
                  <a:lnTo>
                    <a:pt x="91300" y="91300"/>
                  </a:lnTo>
                  <a:lnTo>
                    <a:pt x="61352" y="126014"/>
                  </a:lnTo>
                  <a:lnTo>
                    <a:pt x="36807" y="164777"/>
                  </a:lnTo>
                  <a:lnTo>
                    <a:pt x="18217" y="206726"/>
                  </a:lnTo>
                  <a:lnTo>
                    <a:pt x="5982" y="250917"/>
                  </a:lnTo>
                  <a:lnTo>
                    <a:pt x="373" y="296415"/>
                  </a:lnTo>
                  <a:lnTo>
                    <a:pt x="0" y="311729"/>
                  </a:lnTo>
                  <a:lnTo>
                    <a:pt x="0" y="1176669"/>
                  </a:lnTo>
                  <a:lnTo>
                    <a:pt x="2340168" y="1176669"/>
                  </a:lnTo>
                  <a:lnTo>
                    <a:pt x="2355481" y="1176294"/>
                  </a:lnTo>
                  <a:lnTo>
                    <a:pt x="2400980" y="1170675"/>
                  </a:lnTo>
                  <a:lnTo>
                    <a:pt x="2445171" y="1158451"/>
                  </a:lnTo>
                  <a:lnTo>
                    <a:pt x="2487115" y="1139862"/>
                  </a:lnTo>
                  <a:lnTo>
                    <a:pt x="2525883" y="1115312"/>
                  </a:lnTo>
                  <a:lnTo>
                    <a:pt x="2560597" y="1085357"/>
                  </a:lnTo>
                  <a:lnTo>
                    <a:pt x="2590540" y="1050655"/>
                  </a:lnTo>
                  <a:lnTo>
                    <a:pt x="2615090" y="1011887"/>
                  </a:lnTo>
                  <a:lnTo>
                    <a:pt x="2633679" y="969943"/>
                  </a:lnTo>
                  <a:lnTo>
                    <a:pt x="2645903" y="925752"/>
                  </a:lnTo>
                  <a:lnTo>
                    <a:pt x="2651522" y="880254"/>
                  </a:lnTo>
                  <a:lnTo>
                    <a:pt x="2651897" y="864940"/>
                  </a:lnTo>
                  <a:lnTo>
                    <a:pt x="2651897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32234" y="3740756"/>
              <a:ext cx="2643116" cy="11678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327843" y="3736366"/>
              <a:ext cx="2652395" cy="1177290"/>
            </a:xfrm>
            <a:custGeom>
              <a:avLst/>
              <a:gdLst/>
              <a:ahLst/>
              <a:cxnLst/>
              <a:rect l="l" t="t" r="r" b="b"/>
              <a:pathLst>
                <a:path w="2652395" h="1177289">
                  <a:moveTo>
                    <a:pt x="0" y="1176669"/>
                  </a:moveTo>
                  <a:lnTo>
                    <a:pt x="0" y="311729"/>
                  </a:lnTo>
                  <a:lnTo>
                    <a:pt x="94" y="304076"/>
                  </a:lnTo>
                  <a:lnTo>
                    <a:pt x="3371" y="265991"/>
                  </a:lnTo>
                  <a:lnTo>
                    <a:pt x="11287" y="228584"/>
                  </a:lnTo>
                  <a:lnTo>
                    <a:pt x="23732" y="192435"/>
                  </a:lnTo>
                  <a:lnTo>
                    <a:pt x="40500" y="158076"/>
                  </a:lnTo>
                  <a:lnTo>
                    <a:pt x="61341" y="126031"/>
                  </a:lnTo>
                  <a:lnTo>
                    <a:pt x="85959" y="96779"/>
                  </a:lnTo>
                  <a:lnTo>
                    <a:pt x="113967" y="70764"/>
                  </a:lnTo>
                  <a:lnTo>
                    <a:pt x="144957" y="48363"/>
                  </a:lnTo>
                  <a:lnTo>
                    <a:pt x="178445" y="29927"/>
                  </a:lnTo>
                  <a:lnTo>
                    <a:pt x="213944" y="15733"/>
                  </a:lnTo>
                  <a:lnTo>
                    <a:pt x="250905" y="5994"/>
                  </a:lnTo>
                  <a:lnTo>
                    <a:pt x="288797" y="839"/>
                  </a:lnTo>
                  <a:lnTo>
                    <a:pt x="311729" y="0"/>
                  </a:lnTo>
                  <a:lnTo>
                    <a:pt x="2651897" y="0"/>
                  </a:lnTo>
                  <a:lnTo>
                    <a:pt x="2651897" y="864940"/>
                  </a:lnTo>
                  <a:lnTo>
                    <a:pt x="2651803" y="872592"/>
                  </a:lnTo>
                  <a:lnTo>
                    <a:pt x="2648524" y="910678"/>
                  </a:lnTo>
                  <a:lnTo>
                    <a:pt x="2640609" y="948079"/>
                  </a:lnTo>
                  <a:lnTo>
                    <a:pt x="2628165" y="984234"/>
                  </a:lnTo>
                  <a:lnTo>
                    <a:pt x="2611397" y="1018593"/>
                  </a:lnTo>
                  <a:lnTo>
                    <a:pt x="2590551" y="1050638"/>
                  </a:lnTo>
                  <a:lnTo>
                    <a:pt x="2565938" y="1079885"/>
                  </a:lnTo>
                  <a:lnTo>
                    <a:pt x="2537930" y="1105905"/>
                  </a:lnTo>
                  <a:lnTo>
                    <a:pt x="2506940" y="1128306"/>
                  </a:lnTo>
                  <a:lnTo>
                    <a:pt x="2473452" y="1146736"/>
                  </a:lnTo>
                  <a:lnTo>
                    <a:pt x="2437953" y="1160931"/>
                  </a:lnTo>
                  <a:lnTo>
                    <a:pt x="2400980" y="1170675"/>
                  </a:lnTo>
                  <a:lnTo>
                    <a:pt x="2363099" y="1175825"/>
                  </a:lnTo>
                  <a:lnTo>
                    <a:pt x="2340168" y="1176669"/>
                  </a:lnTo>
                  <a:lnTo>
                    <a:pt x="0" y="1176669"/>
                  </a:lnTo>
                  <a:close/>
                </a:path>
              </a:pathLst>
            </a:custGeom>
            <a:ln w="8781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477593" y="3881726"/>
            <a:ext cx="2174240" cy="5495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r"/>
            <a:r>
              <a:rPr lang="he-IL" sz="1800" b="1" dirty="0"/>
              <a:t>שיפור טקטי</a:t>
            </a:r>
            <a:endParaRPr lang="he-IL" sz="1800" dirty="0"/>
          </a:p>
          <a:p>
            <a:pPr marL="12700" algn="r">
              <a:lnSpc>
                <a:spcPct val="100000"/>
              </a:lnSpc>
              <a:spcBef>
                <a:spcPts val="105"/>
              </a:spcBef>
            </a:pPr>
            <a:r>
              <a:rPr lang="he-IL" sz="1600" dirty="0"/>
              <a:t>תמיכה מדעית למאמנים</a:t>
            </a:r>
            <a:endParaRPr lang="he-IL" sz="1400" dirty="0"/>
          </a:p>
        </p:txBody>
      </p:sp>
      <p:grpSp>
        <p:nvGrpSpPr>
          <p:cNvPr id="15" name="object 15"/>
          <p:cNvGrpSpPr/>
          <p:nvPr/>
        </p:nvGrpSpPr>
        <p:grpSpPr>
          <a:xfrm>
            <a:off x="4504659" y="5075432"/>
            <a:ext cx="5480050" cy="922655"/>
            <a:chOff x="4504659" y="5075432"/>
            <a:chExt cx="5480050" cy="922655"/>
          </a:xfrm>
        </p:grpSpPr>
        <p:sp>
          <p:nvSpPr>
            <p:cNvPr id="16" name="object 16"/>
            <p:cNvSpPr/>
            <p:nvPr/>
          </p:nvSpPr>
          <p:spPr>
            <a:xfrm>
              <a:off x="4509104" y="5079877"/>
              <a:ext cx="5471160" cy="913765"/>
            </a:xfrm>
            <a:custGeom>
              <a:avLst/>
              <a:gdLst/>
              <a:ahLst/>
              <a:cxnLst/>
              <a:rect l="l" t="t" r="r" b="b"/>
              <a:pathLst>
                <a:path w="5471159" h="913764">
                  <a:moveTo>
                    <a:pt x="5470636" y="0"/>
                  </a:moveTo>
                  <a:lnTo>
                    <a:pt x="311729" y="0"/>
                  </a:lnTo>
                  <a:lnTo>
                    <a:pt x="296415" y="375"/>
                  </a:lnTo>
                  <a:lnTo>
                    <a:pt x="250917" y="5994"/>
                  </a:lnTo>
                  <a:lnTo>
                    <a:pt x="206726" y="18212"/>
                  </a:lnTo>
                  <a:lnTo>
                    <a:pt x="164777" y="36806"/>
                  </a:lnTo>
                  <a:lnTo>
                    <a:pt x="126014" y="61352"/>
                  </a:lnTo>
                  <a:lnTo>
                    <a:pt x="91300" y="91300"/>
                  </a:lnTo>
                  <a:lnTo>
                    <a:pt x="61352" y="126014"/>
                  </a:lnTo>
                  <a:lnTo>
                    <a:pt x="36807" y="164777"/>
                  </a:lnTo>
                  <a:lnTo>
                    <a:pt x="18217" y="206726"/>
                  </a:lnTo>
                  <a:lnTo>
                    <a:pt x="5994" y="250915"/>
                  </a:lnTo>
                  <a:lnTo>
                    <a:pt x="373" y="296415"/>
                  </a:lnTo>
                  <a:lnTo>
                    <a:pt x="0" y="311728"/>
                  </a:lnTo>
                  <a:lnTo>
                    <a:pt x="0" y="913235"/>
                  </a:lnTo>
                  <a:lnTo>
                    <a:pt x="5158907" y="913235"/>
                  </a:lnTo>
                  <a:lnTo>
                    <a:pt x="5174221" y="912860"/>
                  </a:lnTo>
                  <a:lnTo>
                    <a:pt x="5219719" y="907244"/>
                  </a:lnTo>
                  <a:lnTo>
                    <a:pt x="5263910" y="895019"/>
                  </a:lnTo>
                  <a:lnTo>
                    <a:pt x="5305854" y="876428"/>
                  </a:lnTo>
                  <a:lnTo>
                    <a:pt x="5344622" y="851878"/>
                  </a:lnTo>
                  <a:lnTo>
                    <a:pt x="5379336" y="821930"/>
                  </a:lnTo>
                  <a:lnTo>
                    <a:pt x="5409279" y="787217"/>
                  </a:lnTo>
                  <a:lnTo>
                    <a:pt x="5433829" y="748453"/>
                  </a:lnTo>
                  <a:lnTo>
                    <a:pt x="5452418" y="706506"/>
                  </a:lnTo>
                  <a:lnTo>
                    <a:pt x="5464642" y="662319"/>
                  </a:lnTo>
                  <a:lnTo>
                    <a:pt x="5470261" y="616819"/>
                  </a:lnTo>
                  <a:lnTo>
                    <a:pt x="5470636" y="601505"/>
                  </a:lnTo>
                  <a:lnTo>
                    <a:pt x="5470636" y="0"/>
                  </a:lnTo>
                  <a:close/>
                </a:path>
              </a:pathLst>
            </a:custGeom>
            <a:solidFill>
              <a:srgbClr val="EFF0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3495" y="5084266"/>
              <a:ext cx="5461855" cy="90445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09104" y="5079877"/>
              <a:ext cx="5471160" cy="913765"/>
            </a:xfrm>
            <a:custGeom>
              <a:avLst/>
              <a:gdLst/>
              <a:ahLst/>
              <a:cxnLst/>
              <a:rect l="l" t="t" r="r" b="b"/>
              <a:pathLst>
                <a:path w="5471159" h="913764">
                  <a:moveTo>
                    <a:pt x="0" y="913235"/>
                  </a:moveTo>
                  <a:lnTo>
                    <a:pt x="0" y="311728"/>
                  </a:lnTo>
                  <a:lnTo>
                    <a:pt x="94" y="304076"/>
                  </a:lnTo>
                  <a:lnTo>
                    <a:pt x="3373" y="265987"/>
                  </a:lnTo>
                  <a:lnTo>
                    <a:pt x="11287" y="228587"/>
                  </a:lnTo>
                  <a:lnTo>
                    <a:pt x="23732" y="192434"/>
                  </a:lnTo>
                  <a:lnTo>
                    <a:pt x="40500" y="158076"/>
                  </a:lnTo>
                  <a:lnTo>
                    <a:pt x="61341" y="126031"/>
                  </a:lnTo>
                  <a:lnTo>
                    <a:pt x="85959" y="96779"/>
                  </a:lnTo>
                  <a:lnTo>
                    <a:pt x="113967" y="70764"/>
                  </a:lnTo>
                  <a:lnTo>
                    <a:pt x="144957" y="48363"/>
                  </a:lnTo>
                  <a:lnTo>
                    <a:pt x="178445" y="29927"/>
                  </a:lnTo>
                  <a:lnTo>
                    <a:pt x="213944" y="15733"/>
                  </a:lnTo>
                  <a:lnTo>
                    <a:pt x="250917" y="5994"/>
                  </a:lnTo>
                  <a:lnTo>
                    <a:pt x="288797" y="839"/>
                  </a:lnTo>
                  <a:lnTo>
                    <a:pt x="311729" y="0"/>
                  </a:lnTo>
                  <a:lnTo>
                    <a:pt x="5470636" y="0"/>
                  </a:lnTo>
                  <a:lnTo>
                    <a:pt x="5470636" y="601505"/>
                  </a:lnTo>
                  <a:lnTo>
                    <a:pt x="5470542" y="609157"/>
                  </a:lnTo>
                  <a:lnTo>
                    <a:pt x="5467263" y="647245"/>
                  </a:lnTo>
                  <a:lnTo>
                    <a:pt x="5459348" y="684645"/>
                  </a:lnTo>
                  <a:lnTo>
                    <a:pt x="5446904" y="720796"/>
                  </a:lnTo>
                  <a:lnTo>
                    <a:pt x="5430136" y="755157"/>
                  </a:lnTo>
                  <a:lnTo>
                    <a:pt x="5409290" y="787203"/>
                  </a:lnTo>
                  <a:lnTo>
                    <a:pt x="5384677" y="816454"/>
                  </a:lnTo>
                  <a:lnTo>
                    <a:pt x="5356669" y="842474"/>
                  </a:lnTo>
                  <a:lnTo>
                    <a:pt x="5325679" y="864872"/>
                  </a:lnTo>
                  <a:lnTo>
                    <a:pt x="5292191" y="883306"/>
                  </a:lnTo>
                  <a:lnTo>
                    <a:pt x="5256692" y="897500"/>
                  </a:lnTo>
                  <a:lnTo>
                    <a:pt x="5219719" y="907244"/>
                  </a:lnTo>
                  <a:lnTo>
                    <a:pt x="5181839" y="912392"/>
                  </a:lnTo>
                  <a:lnTo>
                    <a:pt x="5158907" y="913235"/>
                  </a:lnTo>
                  <a:lnTo>
                    <a:pt x="0" y="913235"/>
                  </a:lnTo>
                  <a:close/>
                </a:path>
              </a:pathLst>
            </a:custGeom>
            <a:ln w="8781">
              <a:solidFill>
                <a:srgbClr val="C5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658854" y="5225236"/>
            <a:ext cx="5236373" cy="8136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r"/>
            <a:r>
              <a:rPr lang="he-IL" b="1" dirty="0">
                <a:solidFill>
                  <a:schemeClr val="tx1"/>
                </a:solidFill>
                <a:latin typeface="Verdana"/>
                <a:cs typeface="Verdana"/>
              </a:rPr>
              <a:t>מחזור חיים מלא של למידת מכונה</a:t>
            </a:r>
          </a:p>
          <a:p>
            <a:pPr algn="r"/>
            <a:r>
              <a:rPr lang="he-IL" sz="1600" dirty="0"/>
              <a:t>מאיסוף נתונים ועד המלצות חיות</a:t>
            </a:r>
          </a:p>
          <a:p>
            <a:pPr algn="r"/>
            <a:r>
              <a:rPr lang="he-IL" dirty="0"/>
              <a:t>  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30000" cy="64452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120" y="304047"/>
            <a:ext cx="4053655" cy="5838833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40675" y="3135097"/>
            <a:ext cx="3086100" cy="3007783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1663" y="585763"/>
            <a:ext cx="10223487" cy="5270370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045C8B3-B32A-BFEB-4F4C-4E8B8799B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7462" y="757832"/>
            <a:ext cx="3144971" cy="26760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לוח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זמנים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תמונה 4" descr="תמונה שמכילה טקסט, צילום מסך, תרשים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6DFB2497-16A4-38CF-9354-D5409479F5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523" y="1611815"/>
            <a:ext cx="5254346" cy="320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55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1011</Words>
  <Application>Microsoft Office PowerPoint</Application>
  <PresentationFormat>מותאם אישית</PresentationFormat>
  <Paragraphs>178</Paragraphs>
  <Slides>21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21</vt:i4>
      </vt:variant>
    </vt:vector>
  </HeadingPairs>
  <TitlesOfParts>
    <vt:vector size="25" baseType="lpstr">
      <vt:lpstr>Arial</vt:lpstr>
      <vt:lpstr>Tahoma</vt:lpstr>
      <vt:lpstr>Verdana</vt:lpstr>
      <vt:lpstr>Office Theme</vt:lpstr>
      <vt:lpstr>AI Assistant Coach – Optimal Timeout Prediction</vt:lpstr>
      <vt:lpstr>מצגת של PowerPoint‏</vt:lpstr>
      <vt:lpstr>מצגת של PowerPoint‏</vt:lpstr>
      <vt:lpstr>אתגרים אלגוריתמיים: מה מסתתר בנתונים</vt:lpstr>
      <vt:lpstr>מומנטום: מושג מופשט ומשתנה</vt:lpstr>
      <vt:lpstr>גישה: פתרון המורכבות</vt:lpstr>
      <vt:lpstr>הליבה: מודל למידת המכונה</vt:lpstr>
      <vt:lpstr>תרומה למחקר: חדשנות בעולם האנליטיקה הספורטיבית</vt:lpstr>
      <vt:lpstr>כלים וטכנולוגיות</vt:lpstr>
      <vt:lpstr>שלבי פיתוח: התחלה חזקה</vt:lpstr>
      <vt:lpstr>יישום המודל, שילוב הצ'אטבוט והערכה</vt:lpstr>
      <vt:lpstr>שלב 3: איסוף ועיבוד נתונים</vt:lpstr>
      <vt:lpstr>שלב 4: הנדסת תכונות מתקדמת</vt:lpstr>
      <vt:lpstr>מצגת של PowerPoint‏</vt:lpstr>
      <vt:lpstr>שלב 6: עוזר צ'אטבוט בזמן אמת</vt:lpstr>
      <vt:lpstr>ממשק משתמש של הצ'אטבוט</vt:lpstr>
      <vt:lpstr>שלב 7: בדיקות והערכה</vt:lpstr>
      <vt:lpstr>שלב 8: תיעוד והצגה</vt:lpstr>
      <vt:lpstr>מדדי הצלחה</vt:lpstr>
      <vt:lpstr>סיכום</vt:lpstr>
      <vt:lpstr>לוח זמנים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Kornblit</cp:lastModifiedBy>
  <cp:revision>35</cp:revision>
  <dcterms:created xsi:type="dcterms:W3CDTF">2025-11-06T14:36:05Z</dcterms:created>
  <dcterms:modified xsi:type="dcterms:W3CDTF">2025-11-17T11:42:27Z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2025-11-06T00:00:00Z</vt:filetime>
  </property>
  <property fmtid="{D5CDD505-2E9C-101B-9397-08002B2CF9AE}" pid="3" name="LastSaved">
    <vt:filetime>2025-11-06T00:00:00Z</vt:filetime>
  </property>
  <property fmtid="{D5CDD505-2E9C-101B-9397-08002B2CF9AE}" pid="4" name="Producer">
    <vt:lpwstr>iLovePDF</vt:lpwstr>
  </property>
</Properties>
</file>